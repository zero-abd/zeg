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Paying per interview</c:v>
                </c:pt>
              </c:strCache>
            </c:strRef>
          </c:tx>
          <c:spPr>
            <a:solidFill>
              <a:srgbClr val="3C4A4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250</c:v>
                  </c:pt>
                  <c:pt idx="1">
                    <c:v>500</c:v>
                  </c:pt>
                  <c:pt idx="2">
                    <c:v>1,000</c:v>
                  </c:pt>
                  <c:pt idx="3">
                    <c:v>2,500</c:v>
                  </c:pt>
                </c:lvl>
              </c:multiLvlStrCache>
            </c:multiLvlStrRef>
          </c:cat>
          <c:val>
            <c:numRef>
              <c:f>Sheet1!$B$2:$B$5</c:f>
              <c:numCache>
                <c:formatCode>General</c:formatCode>
                <c:ptCount val="4"/>
                <c:pt idx="0">
                  <c:v>2500</c:v>
                </c:pt>
                <c:pt idx="1">
                  <c:v>5000</c:v>
                </c:pt>
                <c:pt idx="2">
                  <c:v>10000</c:v>
                </c:pt>
                <c:pt idx="3">
                  <c:v>25000</c:v>
                </c:pt>
              </c:numCache>
            </c:numRef>
          </c:val>
        </c:ser>
        <c:ser>
          <c:idx val="1"/>
          <c:order val="1"/>
          <c:tx>
            <c:strRef>
              <c:f>Sheet1!$C$1</c:f>
              <c:strCache>
                <c:ptCount val="1"/>
                <c:pt idx="0">
                  <c:v>zeg (one machine)</c:v>
                </c:pt>
              </c:strCache>
            </c:strRef>
          </c:tx>
          <c:spPr>
            <a:solidFill>
              <a:srgbClr val="2DD4B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250</c:v>
                  </c:pt>
                  <c:pt idx="1">
                    <c:v>500</c:v>
                  </c:pt>
                  <c:pt idx="2">
                    <c:v>1,000</c:v>
                  </c:pt>
                  <c:pt idx="3">
                    <c:v>2,500</c:v>
                  </c:pt>
                </c:lvl>
              </c:multiLvlStrCache>
            </c:multiLvlStrRef>
          </c:cat>
          <c:val>
            <c:numRef>
              <c:f>Sheet1!$C$2:$C$5</c:f>
              <c:numCache>
                <c:formatCode>General</c:formatCode>
                <c:ptCount val="4"/>
                <c:pt idx="0">
                  <c:v>5000</c:v>
                </c:pt>
                <c:pt idx="1">
                  <c:v>5000</c:v>
                </c:pt>
                <c:pt idx="2">
                  <c:v>5000</c:v>
                </c:pt>
                <c:pt idx="3">
                  <c:v>5000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3726E"/>
                    </a:solidFill>
                    <a:latin typeface="Calibri"/>
                  </a:defRPr>
                </a:pPr>
                <a:r>
                  <a:rPr sz="1100" b="0" i="0" u="none" strike="noStrike">
                    <a:solidFill>
                      <a:srgbClr val="63726E"/>
                    </a:solidFill>
                    <a:latin typeface="Calibri"/>
                  </a:rPr>
                  <a:t>interviews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999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1E2B2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99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8A999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 we built zeg. It is an interview agent that does a recruiter's first screening call, and hands back evidence instead of a gut feeling. Everything runs on one machine in your own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recruiting team gets far more applicants than its engineers can phone-screen. The first call is 30 minutes and it is the same shape every time. Nobody has 100 hours. So the filter becomes the résumé, which is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Résumés measure keywords, not ability. Two engineers screening for the same role hold different bars. And the strongest candidates are the ones with other offers, so delay loses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it does the first call with everyone, and it gives you back a ranked, evidenced shortlist. The important half is the second sentence. It shows its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 side: a link and a microphone. Fifteen minutes. Recruiter side: a report. The quiet benefit is consistency — everybody gets the same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beat that matters. Anyone can ask a question. zeg keeps going: what did YOU do, give me a number, what did it cost you, what broke afterwards. It stops when the answer gets specific. That is the difference between a chatbot and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recruiter actually sees. Not a black-box number — a number with the candidate's own words underneath it. That is what makes it defensible if anyone ever asks why someone was not advanced.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call was short, or the connection dropped, or they simply never got asked about debugging — zeg says so. It does not turn absence of evidence into a low score. Insufficient signal is a real outcome with its own recommendation: give this person a human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this bug in our own system, with our own fairness tests. Identical facts, identical numbers — and filler alone dropped a candidate from advance to reject. That is scoring how somebody sounds, and filler correlates with nerves and with speaking a second language. It is fixed, and the test now runs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 the network cable after the call connects and the interview still finishes. For a small company this is the whole sale: there is no third party in the audio path, so there is no data agreement to negotiate and no vendor breach that becomes your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Hosted screening is priced per interview, so the bill grows with exactly the thing you are trying to do more of. A machine is bought once. Around five hundred interviews it has paid for itself, and after that the next interview costs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call now. Point at the machine. If anyone asks: yes, it is that box, and no, nothing is going out to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say this ourselves than be caught by it. It is a recommendation engine, not a decision maker. It serves one call at a time on one box — the answer to scale is more boxes, which is also how we make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message: every applicant gets a real conversation instead of a résumé filter, and the recruiter gets evidence instead of a hunch.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11"/>
        </a:solidFill>
      </p:bgPr>
    </p:bg>
    <p:spTree>
      <p:nvGrpSpPr>
        <p:cNvPr id="1" name=""/>
        <p:cNvGrpSpPr/>
        <p:nvPr/>
      </p:nvGrpSpPr>
      <p:grpSpPr>
        <a:xfrm>
          <a:off x="0" y="0"/>
          <a:ext cx="0" cy="0"/>
          <a:chOff x="0" y="0"/>
          <a:chExt cx="0" cy="0"/>
        </a:xfrm>
      </p:grpSpPr>
      <p:sp>
        <p:nvSpPr>
          <p:cNvPr id="2" name="Shape 0"/>
          <p:cNvSpPr/>
          <p:nvPr/>
        </p:nvSpPr>
        <p:spPr>
          <a:xfrm>
            <a:off x="9189720" y="1481328"/>
            <a:ext cx="2468880" cy="2468880"/>
          </a:xfrm>
          <a:prstGeom prst="ellipse">
            <a:avLst/>
          </a:prstGeom>
          <a:solidFill>
            <a:srgbClr val="0E1F1C"/>
          </a:solidFill>
          <a:ln w="12700">
            <a:solidFill>
              <a:srgbClr val="1C3A35"/>
            </a:solidFill>
            <a:prstDash val="solid"/>
          </a:ln>
        </p:spPr>
      </p:sp>
      <p:pic>
        <p:nvPicPr>
          <p:cNvPr id="3" name="Image 0" descr="icons/mic.png">    </p:cNvPr>
          <p:cNvPicPr>
            <a:picLocks noChangeAspect="1"/>
          </p:cNvPicPr>
          <p:nvPr/>
        </p:nvPicPr>
        <p:blipFill>
          <a:blip r:embed="rId1"/>
          <a:stretch>
            <a:fillRect/>
          </a:stretch>
        </p:blipFill>
        <p:spPr>
          <a:xfrm>
            <a:off x="10012680" y="2304288"/>
            <a:ext cx="822960" cy="822960"/>
          </a:xfrm>
          <a:prstGeom prst="rect">
            <a:avLst/>
          </a:prstGeom>
        </p:spPr>
      </p:pic>
      <p:sp>
        <p:nvSpPr>
          <p:cNvPr id="4" name="Text 1"/>
          <p:cNvSpPr txBox="1"/>
          <p:nvPr/>
        </p:nvSpPr>
        <p:spPr>
          <a:xfrm>
            <a:off x="640080" y="1627632"/>
            <a:ext cx="7315200" cy="1024128"/>
          </a:xfrm>
          <a:prstGeom prst="rect">
            <a:avLst/>
          </a:prstGeom>
          <a:noFill/>
          <a:ln/>
        </p:spPr>
        <p:txBody>
          <a:bodyPr wrap="square" lIns="0" tIns="0" rIns="0" bIns="0" rtlCol="0" anchor="ctr"/>
          <a:lstStyle/>
          <a:p>
            <a:pPr indent="0" marL="0">
              <a:buNone/>
            </a:pPr>
            <a:r>
              <a:rPr lang="en-US" sz="7200" b="1" dirty="0">
                <a:solidFill>
                  <a:srgbClr val="2DD4BF"/>
                </a:solidFill>
                <a:latin typeface="Arial" pitchFamily="34" charset="0"/>
                <a:ea typeface="Arial" pitchFamily="34" charset="-122"/>
                <a:cs typeface="Arial" pitchFamily="34" charset="-120"/>
              </a:rPr>
              <a:t>zeg</a:t>
            </a:r>
            <a:endParaRPr lang="en-US" sz="7200" dirty="0"/>
          </a:p>
        </p:txBody>
      </p:sp>
      <p:sp>
        <p:nvSpPr>
          <p:cNvPr id="5" name="Text 2"/>
          <p:cNvSpPr txBox="1"/>
          <p:nvPr/>
        </p:nvSpPr>
        <p:spPr>
          <a:xfrm>
            <a:off x="640080" y="2788920"/>
            <a:ext cx="7863840" cy="169164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The first interview,</a:t>
            </a:r>
            <a:endParaRPr lang="en-US" sz="3800" dirty="0"/>
          </a:p>
          <a:p>
            <a:pPr indent="0" marL="0">
              <a:lnSpc>
                <a:spcPts val="4400"/>
              </a:lnSpc>
              <a:buNone/>
            </a:pPr>
            <a:r>
              <a:rPr lang="en-US" sz="3800" b="1" dirty="0">
                <a:solidFill>
                  <a:srgbClr val="FFFFFF"/>
                </a:solidFill>
                <a:latin typeface="Arial" pitchFamily="34" charset="0"/>
                <a:ea typeface="Arial" pitchFamily="34" charset="-122"/>
                <a:cs typeface="Arial" pitchFamily="34" charset="-120"/>
              </a:rPr>
              <a:t>done for you.</a:t>
            </a:r>
            <a:endParaRPr lang="en-US" sz="3800" dirty="0"/>
          </a:p>
        </p:txBody>
      </p:sp>
      <p:sp>
        <p:nvSpPr>
          <p:cNvPr id="6" name="Text 3"/>
          <p:cNvSpPr txBox="1"/>
          <p:nvPr/>
        </p:nvSpPr>
        <p:spPr>
          <a:xfrm>
            <a:off x="640080" y="4617720"/>
            <a:ext cx="8229600" cy="365760"/>
          </a:xfrm>
          <a:prstGeom prst="rect">
            <a:avLst/>
          </a:prstGeom>
          <a:noFill/>
          <a:ln/>
        </p:spPr>
        <p:txBody>
          <a:bodyPr wrap="square" lIns="0" tIns="0" rIns="0" bIns="0" rtlCol="0" anchor="ctr"/>
          <a:lstStyle/>
          <a:p>
            <a:pPr indent="0" marL="0">
              <a:buNone/>
            </a:pPr>
            <a:r>
              <a:rPr lang="en-US" sz="1500" dirty="0">
                <a:solidFill>
                  <a:srgbClr val="8A9995"/>
                </a:solidFill>
                <a:latin typeface="Calibri" pitchFamily="34" charset="0"/>
                <a:ea typeface="Calibri" pitchFamily="34" charset="-122"/>
                <a:cs typeface="Calibri" pitchFamily="34" charset="-120"/>
              </a:rPr>
              <a:t>A screening agent for recruiters.  Runs on one machine you own.</a:t>
            </a:r>
            <a:endParaRPr lang="en-US" sz="1500" dirty="0"/>
          </a:p>
        </p:txBody>
      </p:sp>
      <p:sp>
        <p:nvSpPr>
          <p:cNvPr id="7" name="Text 4"/>
          <p:cNvSpPr txBox="1"/>
          <p:nvPr/>
        </p:nvSpPr>
        <p:spPr>
          <a:xfrm>
            <a:off x="640080" y="6035040"/>
            <a:ext cx="7315200" cy="320040"/>
          </a:xfrm>
          <a:prstGeom prst="rect">
            <a:avLst/>
          </a:prstGeom>
          <a:noFill/>
          <a:ln/>
        </p:spPr>
        <p:txBody>
          <a:bodyPr wrap="square" lIns="0" tIns="0" rIns="0" bIns="0" rtlCol="0" anchor="ctr"/>
          <a:lstStyle/>
          <a:p>
            <a:pPr indent="0" marL="0">
              <a:buNone/>
            </a:pPr>
            <a:r>
              <a:rPr lang="en-US" sz="1200" dirty="0">
                <a:solidFill>
                  <a:srgbClr val="63726E"/>
                </a:solidFill>
                <a:latin typeface="Calibri" pitchFamily="34" charset="0"/>
                <a:ea typeface="Calibri" pitchFamily="34" charset="-122"/>
                <a:cs typeface="Calibri" pitchFamily="34" charset="-120"/>
              </a:rPr>
              <a:t>Abdullah  ·  Hyunsuh  ·  Eunice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THE PROBLEM</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Too many people to talk to.</a:t>
            </a:r>
            <a:endParaRPr lang="en-US" sz="3600" dirty="0"/>
          </a:p>
        </p:txBody>
      </p:sp>
      <p:sp>
        <p:nvSpPr>
          <p:cNvPr id="4" name="Shape 2"/>
          <p:cNvSpPr/>
          <p:nvPr/>
        </p:nvSpPr>
        <p:spPr>
          <a:xfrm>
            <a:off x="640080" y="2487168"/>
            <a:ext cx="3291840" cy="1874520"/>
          </a:xfrm>
          <a:prstGeom prst="roundRect">
            <a:avLst>
              <a:gd name="adj" fmla="val 4878"/>
            </a:avLst>
          </a:prstGeom>
          <a:solidFill>
            <a:srgbClr val="152220"/>
          </a:solidFill>
          <a:ln w="12700">
            <a:solidFill>
              <a:srgbClr val="273733"/>
            </a:solidFill>
            <a:prstDash val="solid"/>
          </a:ln>
        </p:spPr>
      </p:sp>
      <p:sp>
        <p:nvSpPr>
          <p:cNvPr id="5" name="Text 3"/>
          <p:cNvSpPr txBox="1"/>
          <p:nvPr/>
        </p:nvSpPr>
        <p:spPr>
          <a:xfrm>
            <a:off x="1051560" y="2734056"/>
            <a:ext cx="2468880" cy="868680"/>
          </a:xfrm>
          <a:prstGeom prst="rect">
            <a:avLst/>
          </a:prstGeom>
          <a:noFill/>
          <a:ln/>
        </p:spPr>
        <p:txBody>
          <a:bodyPr wrap="square" lIns="0" tIns="0" rIns="0" bIns="0" rtlCol="0" anchor="ctr"/>
          <a:lstStyle/>
          <a:p>
            <a:pPr indent="0" marL="0">
              <a:buNone/>
            </a:pPr>
            <a:r>
              <a:rPr lang="en-US" sz="4600" b="1" dirty="0">
                <a:solidFill>
                  <a:srgbClr val="2DD4BF"/>
                </a:solidFill>
                <a:latin typeface="Arial" pitchFamily="34" charset="0"/>
                <a:ea typeface="Arial" pitchFamily="34" charset="-122"/>
                <a:cs typeface="Arial" pitchFamily="34" charset="-120"/>
              </a:rPr>
              <a:t>200</a:t>
            </a:r>
            <a:endParaRPr lang="en-US" sz="4600" dirty="0"/>
          </a:p>
        </p:txBody>
      </p:sp>
      <p:sp>
        <p:nvSpPr>
          <p:cNvPr id="6" name="Text 4"/>
          <p:cNvSpPr txBox="1"/>
          <p:nvPr/>
        </p:nvSpPr>
        <p:spPr>
          <a:xfrm>
            <a:off x="1051560" y="3630168"/>
            <a:ext cx="2468880" cy="548640"/>
          </a:xfrm>
          <a:prstGeom prst="rect">
            <a:avLst/>
          </a:prstGeom>
          <a:noFill/>
          <a:ln/>
        </p:spPr>
        <p:txBody>
          <a:bodyPr wrap="square" lIns="0" tIns="0" rIns="0" bIns="0" rtlCol="0" anchor="ctr"/>
          <a:lstStyle/>
          <a:p>
            <a:pPr indent="0" marL="0">
              <a:buNone/>
            </a:pPr>
            <a:r>
              <a:rPr lang="en-US" sz="1400" dirty="0">
                <a:solidFill>
                  <a:srgbClr val="8A9995"/>
                </a:solidFill>
                <a:latin typeface="Calibri" pitchFamily="34" charset="0"/>
                <a:ea typeface="Calibri" pitchFamily="34" charset="-122"/>
                <a:cs typeface="Calibri" pitchFamily="34" charset="-120"/>
              </a:rPr>
              <a:t>applicants for one role</a:t>
            </a:r>
            <a:endParaRPr lang="en-US" sz="1400" dirty="0"/>
          </a:p>
        </p:txBody>
      </p:sp>
      <p:sp>
        <p:nvSpPr>
          <p:cNvPr id="7" name="Shape 5"/>
          <p:cNvSpPr/>
          <p:nvPr/>
        </p:nvSpPr>
        <p:spPr>
          <a:xfrm>
            <a:off x="4448556" y="2487168"/>
            <a:ext cx="3291840" cy="1874520"/>
          </a:xfrm>
          <a:prstGeom prst="roundRect">
            <a:avLst>
              <a:gd name="adj" fmla="val 4878"/>
            </a:avLst>
          </a:prstGeom>
          <a:solidFill>
            <a:srgbClr val="152220"/>
          </a:solidFill>
          <a:ln w="12700">
            <a:solidFill>
              <a:srgbClr val="273733"/>
            </a:solidFill>
            <a:prstDash val="solid"/>
          </a:ln>
        </p:spPr>
      </p:sp>
      <p:sp>
        <p:nvSpPr>
          <p:cNvPr id="8" name="Text 6"/>
          <p:cNvSpPr txBox="1"/>
          <p:nvPr/>
        </p:nvSpPr>
        <p:spPr>
          <a:xfrm>
            <a:off x="4860036" y="2734056"/>
            <a:ext cx="2468880" cy="868680"/>
          </a:xfrm>
          <a:prstGeom prst="rect">
            <a:avLst/>
          </a:prstGeom>
          <a:noFill/>
          <a:ln/>
        </p:spPr>
        <p:txBody>
          <a:bodyPr wrap="square" lIns="0" tIns="0" rIns="0" bIns="0" rtlCol="0" anchor="ctr"/>
          <a:lstStyle/>
          <a:p>
            <a:pPr indent="0" marL="0">
              <a:buNone/>
            </a:pPr>
            <a:r>
              <a:rPr lang="en-US" sz="4600" b="1" dirty="0">
                <a:solidFill>
                  <a:srgbClr val="2DD4BF"/>
                </a:solidFill>
                <a:latin typeface="Arial" pitchFamily="34" charset="0"/>
                <a:ea typeface="Arial" pitchFamily="34" charset="-122"/>
                <a:cs typeface="Arial" pitchFamily="34" charset="-120"/>
              </a:rPr>
              <a:t>30 min</a:t>
            </a:r>
            <a:endParaRPr lang="en-US" sz="4600" dirty="0"/>
          </a:p>
        </p:txBody>
      </p:sp>
      <p:sp>
        <p:nvSpPr>
          <p:cNvPr id="9" name="Text 7"/>
          <p:cNvSpPr txBox="1"/>
          <p:nvPr/>
        </p:nvSpPr>
        <p:spPr>
          <a:xfrm>
            <a:off x="4860036" y="3630168"/>
            <a:ext cx="2468880" cy="548640"/>
          </a:xfrm>
          <a:prstGeom prst="rect">
            <a:avLst/>
          </a:prstGeom>
          <a:noFill/>
          <a:ln/>
        </p:spPr>
        <p:txBody>
          <a:bodyPr wrap="square" lIns="0" tIns="0" rIns="0" bIns="0" rtlCol="0" anchor="ctr"/>
          <a:lstStyle/>
          <a:p>
            <a:pPr indent="0" marL="0">
              <a:buNone/>
            </a:pPr>
            <a:r>
              <a:rPr lang="en-US" sz="1400" dirty="0">
                <a:solidFill>
                  <a:srgbClr val="8A9995"/>
                </a:solidFill>
                <a:latin typeface="Calibri" pitchFamily="34" charset="0"/>
                <a:ea typeface="Calibri" pitchFamily="34" charset="-122"/>
                <a:cs typeface="Calibri" pitchFamily="34" charset="-120"/>
              </a:rPr>
              <a:t>for every first call</a:t>
            </a:r>
            <a:endParaRPr lang="en-US" sz="1400" dirty="0"/>
          </a:p>
        </p:txBody>
      </p:sp>
      <p:sp>
        <p:nvSpPr>
          <p:cNvPr id="10" name="Shape 8"/>
          <p:cNvSpPr/>
          <p:nvPr/>
        </p:nvSpPr>
        <p:spPr>
          <a:xfrm>
            <a:off x="8257032" y="2487168"/>
            <a:ext cx="3291840" cy="1874520"/>
          </a:xfrm>
          <a:prstGeom prst="roundRect">
            <a:avLst>
              <a:gd name="adj" fmla="val 4878"/>
            </a:avLst>
          </a:prstGeom>
          <a:solidFill>
            <a:srgbClr val="152220"/>
          </a:solidFill>
          <a:ln w="12700">
            <a:solidFill>
              <a:srgbClr val="273733"/>
            </a:solidFill>
            <a:prstDash val="solid"/>
          </a:ln>
        </p:spPr>
      </p:sp>
      <p:sp>
        <p:nvSpPr>
          <p:cNvPr id="11" name="Text 9"/>
          <p:cNvSpPr txBox="1"/>
          <p:nvPr/>
        </p:nvSpPr>
        <p:spPr>
          <a:xfrm>
            <a:off x="8668512" y="2734056"/>
            <a:ext cx="2468880" cy="868680"/>
          </a:xfrm>
          <a:prstGeom prst="rect">
            <a:avLst/>
          </a:prstGeom>
          <a:noFill/>
          <a:ln/>
        </p:spPr>
        <p:txBody>
          <a:bodyPr wrap="square" lIns="0" tIns="0" rIns="0" bIns="0" rtlCol="0" anchor="ctr"/>
          <a:lstStyle/>
          <a:p>
            <a:pPr indent="0" marL="0">
              <a:buNone/>
            </a:pPr>
            <a:r>
              <a:rPr lang="en-US" sz="4600" b="1" dirty="0">
                <a:solidFill>
                  <a:srgbClr val="2DD4BF"/>
                </a:solidFill>
                <a:latin typeface="Arial" pitchFamily="34" charset="0"/>
                <a:ea typeface="Arial" pitchFamily="34" charset="-122"/>
                <a:cs typeface="Arial" pitchFamily="34" charset="-120"/>
              </a:rPr>
              <a:t>100 hrs</a:t>
            </a:r>
            <a:endParaRPr lang="en-US" sz="4600" dirty="0"/>
          </a:p>
        </p:txBody>
      </p:sp>
      <p:sp>
        <p:nvSpPr>
          <p:cNvPr id="12" name="Text 10"/>
          <p:cNvSpPr txBox="1"/>
          <p:nvPr/>
        </p:nvSpPr>
        <p:spPr>
          <a:xfrm>
            <a:off x="8668512" y="3630168"/>
            <a:ext cx="2468880" cy="548640"/>
          </a:xfrm>
          <a:prstGeom prst="rect">
            <a:avLst/>
          </a:prstGeom>
          <a:noFill/>
          <a:ln/>
        </p:spPr>
        <p:txBody>
          <a:bodyPr wrap="square" lIns="0" tIns="0" rIns="0" bIns="0" rtlCol="0" anchor="ctr"/>
          <a:lstStyle/>
          <a:p>
            <a:pPr indent="0" marL="0">
              <a:buNone/>
            </a:pPr>
            <a:r>
              <a:rPr lang="en-US" sz="1400" dirty="0">
                <a:solidFill>
                  <a:srgbClr val="8A9995"/>
                </a:solidFill>
                <a:latin typeface="Calibri" pitchFamily="34" charset="0"/>
                <a:ea typeface="Calibri" pitchFamily="34" charset="-122"/>
                <a:cs typeface="Calibri" pitchFamily="34" charset="-120"/>
              </a:rPr>
              <a:t>of engineer time. Per role.</a:t>
            </a:r>
            <a:endParaRPr lang="en-US" sz="1400" dirty="0"/>
          </a:p>
        </p:txBody>
      </p:sp>
      <p:sp>
        <p:nvSpPr>
          <p:cNvPr id="13" name="Text 11"/>
          <p:cNvSpPr txBox="1"/>
          <p:nvPr/>
        </p:nvSpPr>
        <p:spPr>
          <a:xfrm>
            <a:off x="640080" y="5120640"/>
            <a:ext cx="10908792" cy="548640"/>
          </a:xfrm>
          <a:prstGeom prst="rect">
            <a:avLst/>
          </a:prstGeom>
          <a:noFill/>
          <a:ln/>
        </p:spPr>
        <p:txBody>
          <a:bodyPr wrap="square" lIns="0" tIns="0" rIns="0" bIns="0" rtlCol="0" anchor="ctr"/>
          <a:lstStyle/>
          <a:p>
            <a:pPr indent="0" marL="0">
              <a:buNone/>
            </a:pPr>
            <a:r>
              <a:rPr lang="en-US" sz="2200" dirty="0">
                <a:solidFill>
                  <a:srgbClr val="E6EDEB"/>
                </a:solidFill>
                <a:latin typeface="Arial" pitchFamily="34" charset="0"/>
                <a:ea typeface="Arial" pitchFamily="34" charset="-122"/>
                <a:cs typeface="Arial" pitchFamily="34" charset="-120"/>
              </a:rPr>
              <a:t>So most people get judged on a résumé. Or never hear back at all.</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TODAY</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first screen is the weak link.</a:t>
            </a:r>
            <a:endParaRPr lang="en-US" sz="3600" dirty="0"/>
          </a:p>
        </p:txBody>
      </p:sp>
      <p:sp>
        <p:nvSpPr>
          <p:cNvPr id="4" name="Shape 2"/>
          <p:cNvSpPr/>
          <p:nvPr/>
        </p:nvSpPr>
        <p:spPr>
          <a:xfrm>
            <a:off x="640080" y="2331720"/>
            <a:ext cx="10908792" cy="987552"/>
          </a:xfrm>
          <a:prstGeom prst="roundRect">
            <a:avLst>
              <a:gd name="adj" fmla="val 9259"/>
            </a:avLst>
          </a:prstGeom>
          <a:solidFill>
            <a:srgbClr val="152220"/>
          </a:solidFill>
          <a:ln w="12700">
            <a:solidFill>
              <a:srgbClr val="273733"/>
            </a:solidFill>
            <a:prstDash val="solid"/>
          </a:ln>
        </p:spPr>
      </p:sp>
      <p:sp>
        <p:nvSpPr>
          <p:cNvPr id="5" name="Shape 3"/>
          <p:cNvSpPr/>
          <p:nvPr/>
        </p:nvSpPr>
        <p:spPr>
          <a:xfrm>
            <a:off x="1024128" y="2542032"/>
            <a:ext cx="566928" cy="566928"/>
          </a:xfrm>
          <a:prstGeom prst="ellipse">
            <a:avLst/>
          </a:prstGeom>
          <a:solidFill>
            <a:srgbClr val="16302B"/>
          </a:solidFill>
          <a:ln w="12700">
            <a:solidFill>
              <a:srgbClr val="1F4B44"/>
            </a:solidFill>
            <a:prstDash val="solid"/>
          </a:ln>
        </p:spPr>
      </p:sp>
      <p:pic>
        <p:nvPicPr>
          <p:cNvPr id="6" name="Image 0" descr="icons/file.png">    </p:cNvPr>
          <p:cNvPicPr>
            <a:picLocks noChangeAspect="1"/>
          </p:cNvPicPr>
          <p:nvPr/>
        </p:nvPicPr>
        <p:blipFill>
          <a:blip r:embed="rId1"/>
          <a:stretch>
            <a:fillRect/>
          </a:stretch>
        </p:blipFill>
        <p:spPr>
          <a:xfrm>
            <a:off x="1171529" y="2689433"/>
            <a:ext cx="272125" cy="272125"/>
          </a:xfrm>
          <a:prstGeom prst="rect">
            <a:avLst/>
          </a:prstGeom>
        </p:spPr>
      </p:pic>
      <p:sp>
        <p:nvSpPr>
          <p:cNvPr id="7" name="Text 4"/>
          <p:cNvSpPr txBox="1"/>
          <p:nvPr/>
        </p:nvSpPr>
        <p:spPr>
          <a:xfrm>
            <a:off x="1847088" y="2514600"/>
            <a:ext cx="374904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Résumés are guesses</a:t>
            </a:r>
            <a:endParaRPr lang="en-US" sz="1700" dirty="0"/>
          </a:p>
        </p:txBody>
      </p:sp>
      <p:sp>
        <p:nvSpPr>
          <p:cNvPr id="8" name="Text 5"/>
          <p:cNvSpPr txBox="1"/>
          <p:nvPr/>
        </p:nvSpPr>
        <p:spPr>
          <a:xfrm>
            <a:off x="1847088" y="2880360"/>
            <a:ext cx="8778240" cy="32004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Keywords. Not whether they can actually do it.</a:t>
            </a:r>
            <a:endParaRPr lang="en-US" sz="1350" dirty="0"/>
          </a:p>
        </p:txBody>
      </p:sp>
      <p:sp>
        <p:nvSpPr>
          <p:cNvPr id="9" name="Shape 6"/>
          <p:cNvSpPr/>
          <p:nvPr/>
        </p:nvSpPr>
        <p:spPr>
          <a:xfrm>
            <a:off x="640080" y="3529584"/>
            <a:ext cx="10908792" cy="987552"/>
          </a:xfrm>
          <a:prstGeom prst="roundRect">
            <a:avLst>
              <a:gd name="adj" fmla="val 9259"/>
            </a:avLst>
          </a:prstGeom>
          <a:solidFill>
            <a:srgbClr val="152220"/>
          </a:solidFill>
          <a:ln w="12700">
            <a:solidFill>
              <a:srgbClr val="273733"/>
            </a:solidFill>
            <a:prstDash val="solid"/>
          </a:ln>
        </p:spPr>
      </p:sp>
      <p:sp>
        <p:nvSpPr>
          <p:cNvPr id="10" name="Shape 7"/>
          <p:cNvSpPr/>
          <p:nvPr/>
        </p:nvSpPr>
        <p:spPr>
          <a:xfrm>
            <a:off x="1024128" y="3739896"/>
            <a:ext cx="566928" cy="566928"/>
          </a:xfrm>
          <a:prstGeom prst="ellipse">
            <a:avLst/>
          </a:prstGeom>
          <a:solidFill>
            <a:srgbClr val="16302B"/>
          </a:solidFill>
          <a:ln w="12700">
            <a:solidFill>
              <a:srgbClr val="1F4B44"/>
            </a:solidFill>
            <a:prstDash val="solid"/>
          </a:ln>
        </p:spPr>
      </p:sp>
      <p:pic>
        <p:nvPicPr>
          <p:cNvPr id="11" name="Image 1" descr="icons/sliders.png">    </p:cNvPr>
          <p:cNvPicPr>
            <a:picLocks noChangeAspect="1"/>
          </p:cNvPicPr>
          <p:nvPr/>
        </p:nvPicPr>
        <p:blipFill>
          <a:blip r:embed="rId2"/>
          <a:stretch>
            <a:fillRect/>
          </a:stretch>
        </p:blipFill>
        <p:spPr>
          <a:xfrm>
            <a:off x="1171529" y="3887297"/>
            <a:ext cx="272125" cy="272125"/>
          </a:xfrm>
          <a:prstGeom prst="rect">
            <a:avLst/>
          </a:prstGeom>
        </p:spPr>
      </p:pic>
      <p:sp>
        <p:nvSpPr>
          <p:cNvPr id="12" name="Text 8"/>
          <p:cNvSpPr txBox="1"/>
          <p:nvPr/>
        </p:nvSpPr>
        <p:spPr>
          <a:xfrm>
            <a:off x="1847088" y="3712464"/>
            <a:ext cx="374904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Every screener is different</a:t>
            </a:r>
            <a:endParaRPr lang="en-US" sz="1700" dirty="0"/>
          </a:p>
        </p:txBody>
      </p:sp>
      <p:sp>
        <p:nvSpPr>
          <p:cNvPr id="13" name="Text 9"/>
          <p:cNvSpPr txBox="1"/>
          <p:nvPr/>
        </p:nvSpPr>
        <p:spPr>
          <a:xfrm>
            <a:off x="1847088" y="4078224"/>
            <a:ext cx="8778240" cy="32004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Different engineer, different bar, same job.</a:t>
            </a:r>
            <a:endParaRPr lang="en-US" sz="1350" dirty="0"/>
          </a:p>
        </p:txBody>
      </p:sp>
      <p:sp>
        <p:nvSpPr>
          <p:cNvPr id="14" name="Shape 10"/>
          <p:cNvSpPr/>
          <p:nvPr/>
        </p:nvSpPr>
        <p:spPr>
          <a:xfrm>
            <a:off x="640080" y="4727448"/>
            <a:ext cx="10908792" cy="987552"/>
          </a:xfrm>
          <a:prstGeom prst="roundRect">
            <a:avLst>
              <a:gd name="adj" fmla="val 9259"/>
            </a:avLst>
          </a:prstGeom>
          <a:solidFill>
            <a:srgbClr val="152220"/>
          </a:solidFill>
          <a:ln w="12700">
            <a:solidFill>
              <a:srgbClr val="273733"/>
            </a:solidFill>
            <a:prstDash val="solid"/>
          </a:ln>
        </p:spPr>
      </p:sp>
      <p:sp>
        <p:nvSpPr>
          <p:cNvPr id="15" name="Shape 11"/>
          <p:cNvSpPr/>
          <p:nvPr/>
        </p:nvSpPr>
        <p:spPr>
          <a:xfrm>
            <a:off x="1024128" y="4937760"/>
            <a:ext cx="566928" cy="566928"/>
          </a:xfrm>
          <a:prstGeom prst="ellipse">
            <a:avLst/>
          </a:prstGeom>
          <a:solidFill>
            <a:srgbClr val="16302B"/>
          </a:solidFill>
          <a:ln w="12700">
            <a:solidFill>
              <a:srgbClr val="1F4B44"/>
            </a:solidFill>
            <a:prstDash val="solid"/>
          </a:ln>
        </p:spPr>
      </p:sp>
      <p:pic>
        <p:nvPicPr>
          <p:cNvPr id="16" name="Image 2" descr="icons/userx.png">    </p:cNvPr>
          <p:cNvPicPr>
            <a:picLocks noChangeAspect="1"/>
          </p:cNvPicPr>
          <p:nvPr/>
        </p:nvPicPr>
        <p:blipFill>
          <a:blip r:embed="rId3"/>
          <a:stretch>
            <a:fillRect/>
          </a:stretch>
        </p:blipFill>
        <p:spPr>
          <a:xfrm>
            <a:off x="1171529" y="5085161"/>
            <a:ext cx="272125" cy="272125"/>
          </a:xfrm>
          <a:prstGeom prst="rect">
            <a:avLst/>
          </a:prstGeom>
        </p:spPr>
      </p:pic>
      <p:sp>
        <p:nvSpPr>
          <p:cNvPr id="17" name="Text 12"/>
          <p:cNvSpPr txBox="1"/>
          <p:nvPr/>
        </p:nvSpPr>
        <p:spPr>
          <a:xfrm>
            <a:off x="1847088" y="4910328"/>
            <a:ext cx="374904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Good people slip away</a:t>
            </a:r>
            <a:endParaRPr lang="en-US" sz="1700" dirty="0"/>
          </a:p>
        </p:txBody>
      </p:sp>
      <p:sp>
        <p:nvSpPr>
          <p:cNvPr id="18" name="Text 13"/>
          <p:cNvSpPr txBox="1"/>
          <p:nvPr/>
        </p:nvSpPr>
        <p:spPr>
          <a:xfrm>
            <a:off x="1847088" y="5276088"/>
            <a:ext cx="8778240" cy="32004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The best candidates stop waiting and take the other offer.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WHAT WE BUILT</a:t>
            </a:r>
            <a:endParaRPr lang="en-US" sz="1150" dirty="0"/>
          </a:p>
        </p:txBody>
      </p:sp>
      <p:sp>
        <p:nvSpPr>
          <p:cNvPr id="3" name="Text 1"/>
          <p:cNvSpPr txBox="1"/>
          <p:nvPr/>
        </p:nvSpPr>
        <p:spPr>
          <a:xfrm>
            <a:off x="640080" y="1600200"/>
            <a:ext cx="10424160" cy="2834640"/>
          </a:xfrm>
          <a:prstGeom prst="rect">
            <a:avLst/>
          </a:prstGeom>
          <a:noFill/>
          <a:ln/>
        </p:spPr>
        <p:txBody>
          <a:bodyPr wrap="square" lIns="0" tIns="0" rIns="0" bIns="0" rtlCol="0" anchor="ctr"/>
          <a:lstStyle/>
          <a:p>
            <a:pPr indent="0" marL="0">
              <a:lnSpc>
                <a:spcPts val="5400"/>
              </a:lnSpc>
              <a:buNone/>
            </a:pPr>
            <a:r>
              <a:rPr lang="en-US" sz="4200" b="1" dirty="0">
                <a:solidFill>
                  <a:srgbClr val="FFFFFF"/>
                </a:solidFill>
                <a:latin typeface="Arial" pitchFamily="34" charset="0"/>
                <a:ea typeface="Arial" pitchFamily="34" charset="-122"/>
                <a:cs typeface="Arial" pitchFamily="34" charset="-120"/>
              </a:rPr>
              <a:t>zeg talks to every</a:t>
            </a:r>
            <a:endParaRPr lang="en-US" sz="4200" dirty="0"/>
          </a:p>
          <a:p>
            <a:pPr indent="0" marL="0">
              <a:lnSpc>
                <a:spcPts val="5400"/>
              </a:lnSpc>
              <a:buNone/>
            </a:pPr>
            <a:r>
              <a:rPr lang="en-US" sz="4200" b="1" dirty="0">
                <a:solidFill>
                  <a:srgbClr val="FFFFFF"/>
                </a:solidFill>
                <a:latin typeface="Arial" pitchFamily="34" charset="0"/>
                <a:ea typeface="Arial" pitchFamily="34" charset="-122"/>
                <a:cs typeface="Arial" pitchFamily="34" charset="-120"/>
              </a:rPr>
              <a:t>candidate — then tells you</a:t>
            </a:r>
            <a:endParaRPr lang="en-US" sz="4200" dirty="0"/>
          </a:p>
          <a:p>
            <a:pPr indent="0" marL="0">
              <a:lnSpc>
                <a:spcPts val="5400"/>
              </a:lnSpc>
              <a:buNone/>
            </a:pPr>
            <a:r>
              <a:rPr lang="en-US" sz="4200" b="1" dirty="0">
                <a:solidFill>
                  <a:srgbClr val="FFFFFF"/>
                </a:solidFill>
                <a:latin typeface="Arial" pitchFamily="34" charset="0"/>
                <a:ea typeface="Arial" pitchFamily="34" charset="-122"/>
                <a:cs typeface="Arial" pitchFamily="34" charset="-120"/>
              </a:rPr>
              <a:t>who is worth your time.</a:t>
            </a:r>
            <a:endParaRPr lang="en-US" sz="4200" dirty="0"/>
          </a:p>
        </p:txBody>
      </p:sp>
      <p:sp>
        <p:nvSpPr>
          <p:cNvPr id="4" name="Text 2"/>
          <p:cNvSpPr txBox="1"/>
          <p:nvPr/>
        </p:nvSpPr>
        <p:spPr>
          <a:xfrm>
            <a:off x="640080" y="4663440"/>
            <a:ext cx="10058400" cy="457200"/>
          </a:xfrm>
          <a:prstGeom prst="rect">
            <a:avLst/>
          </a:prstGeom>
          <a:noFill/>
          <a:ln/>
        </p:spPr>
        <p:txBody>
          <a:bodyPr wrap="square" lIns="0" tIns="0" rIns="0" bIns="0" rtlCol="0" anchor="ctr"/>
          <a:lstStyle/>
          <a:p>
            <a:pPr indent="0" marL="0">
              <a:buNone/>
            </a:pPr>
            <a:r>
              <a:rPr lang="en-US" sz="2400" dirty="0">
                <a:solidFill>
                  <a:srgbClr val="2DD4BF"/>
                </a:solidFill>
                <a:latin typeface="Arial" pitchFamily="34" charset="0"/>
                <a:ea typeface="Arial" pitchFamily="34" charset="-122"/>
                <a:cs typeface="Arial" pitchFamily="34" charset="-120"/>
              </a:rPr>
              <a:t>And it shows you the quotes that made it say so.</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HOW IT WORKS</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Three steps.</a:t>
            </a:r>
            <a:endParaRPr lang="en-US" sz="3600" dirty="0"/>
          </a:p>
        </p:txBody>
      </p:sp>
      <p:sp>
        <p:nvSpPr>
          <p:cNvPr id="4" name="Shape 2"/>
          <p:cNvSpPr/>
          <p:nvPr/>
        </p:nvSpPr>
        <p:spPr>
          <a:xfrm>
            <a:off x="640080" y="2395728"/>
            <a:ext cx="3291840" cy="2514600"/>
          </a:xfrm>
          <a:prstGeom prst="roundRect">
            <a:avLst>
              <a:gd name="adj" fmla="val 3636"/>
            </a:avLst>
          </a:prstGeom>
          <a:solidFill>
            <a:srgbClr val="152220"/>
          </a:solidFill>
          <a:ln w="12700">
            <a:solidFill>
              <a:srgbClr val="273733"/>
            </a:solidFill>
            <a:prstDash val="solid"/>
          </a:ln>
        </p:spPr>
      </p:sp>
      <p:sp>
        <p:nvSpPr>
          <p:cNvPr id="5" name="Shape 3"/>
          <p:cNvSpPr/>
          <p:nvPr/>
        </p:nvSpPr>
        <p:spPr>
          <a:xfrm>
            <a:off x="1024128" y="2688336"/>
            <a:ext cx="621792" cy="621792"/>
          </a:xfrm>
          <a:prstGeom prst="ellipse">
            <a:avLst/>
          </a:prstGeom>
          <a:solidFill>
            <a:srgbClr val="16302B"/>
          </a:solidFill>
          <a:ln w="12700">
            <a:solidFill>
              <a:srgbClr val="1F4B44"/>
            </a:solidFill>
            <a:prstDash val="solid"/>
          </a:ln>
        </p:spPr>
      </p:sp>
      <p:pic>
        <p:nvPicPr>
          <p:cNvPr id="6" name="Image 0" descr="icons/link.png">    </p:cNvPr>
          <p:cNvPicPr>
            <a:picLocks noChangeAspect="1"/>
          </p:cNvPicPr>
          <p:nvPr/>
        </p:nvPicPr>
        <p:blipFill>
          <a:blip r:embed="rId1"/>
          <a:stretch>
            <a:fillRect/>
          </a:stretch>
        </p:blipFill>
        <p:spPr>
          <a:xfrm>
            <a:off x="1185794" y="2850002"/>
            <a:ext cx="298460" cy="298460"/>
          </a:xfrm>
          <a:prstGeom prst="rect">
            <a:avLst/>
          </a:prstGeom>
        </p:spPr>
      </p:pic>
      <p:sp>
        <p:nvSpPr>
          <p:cNvPr id="7" name="Text 4"/>
          <p:cNvSpPr txBox="1"/>
          <p:nvPr/>
        </p:nvSpPr>
        <p:spPr>
          <a:xfrm>
            <a:off x="3063240" y="2670048"/>
            <a:ext cx="548640" cy="548640"/>
          </a:xfrm>
          <a:prstGeom prst="rect">
            <a:avLst/>
          </a:prstGeom>
          <a:noFill/>
          <a:ln/>
        </p:spPr>
        <p:txBody>
          <a:bodyPr wrap="square" lIns="0" tIns="0" rIns="0" bIns="0" rtlCol="0" anchor="ctr"/>
          <a:lstStyle/>
          <a:p>
            <a:pPr algn="r" indent="0" marL="0">
              <a:buNone/>
            </a:pPr>
            <a:r>
              <a:rPr lang="en-US" sz="3000" b="1" dirty="0">
                <a:solidFill>
                  <a:srgbClr val="1F332E"/>
                </a:solidFill>
                <a:latin typeface="Arial" pitchFamily="34" charset="0"/>
                <a:ea typeface="Arial" pitchFamily="34" charset="-122"/>
                <a:cs typeface="Arial" pitchFamily="34" charset="-120"/>
              </a:rPr>
              <a:t>1</a:t>
            </a:r>
            <a:endParaRPr lang="en-US" sz="3000" dirty="0"/>
          </a:p>
        </p:txBody>
      </p:sp>
      <p:sp>
        <p:nvSpPr>
          <p:cNvPr id="8" name="Text 5"/>
          <p:cNvSpPr txBox="1"/>
          <p:nvPr/>
        </p:nvSpPr>
        <p:spPr>
          <a:xfrm>
            <a:off x="1024128" y="3511296"/>
            <a:ext cx="2523744"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They click a link</a:t>
            </a:r>
            <a:endParaRPr lang="en-US" sz="1800" dirty="0"/>
          </a:p>
        </p:txBody>
      </p:sp>
      <p:sp>
        <p:nvSpPr>
          <p:cNvPr id="9" name="Text 6"/>
          <p:cNvSpPr txBox="1"/>
          <p:nvPr/>
        </p:nvSpPr>
        <p:spPr>
          <a:xfrm>
            <a:off x="1024128" y="4114800"/>
            <a:ext cx="2523744" cy="64008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No app, no install, no scheduling back and forth.</a:t>
            </a:r>
            <a:endParaRPr lang="en-US" sz="1350" dirty="0"/>
          </a:p>
        </p:txBody>
      </p:sp>
      <p:sp>
        <p:nvSpPr>
          <p:cNvPr id="10" name="Shape 7"/>
          <p:cNvSpPr/>
          <p:nvPr/>
        </p:nvSpPr>
        <p:spPr>
          <a:xfrm>
            <a:off x="4448556" y="2395728"/>
            <a:ext cx="3291840" cy="2514600"/>
          </a:xfrm>
          <a:prstGeom prst="roundRect">
            <a:avLst>
              <a:gd name="adj" fmla="val 3636"/>
            </a:avLst>
          </a:prstGeom>
          <a:solidFill>
            <a:srgbClr val="152220"/>
          </a:solidFill>
          <a:ln w="12700">
            <a:solidFill>
              <a:srgbClr val="273733"/>
            </a:solidFill>
            <a:prstDash val="solid"/>
          </a:ln>
        </p:spPr>
      </p:sp>
      <p:sp>
        <p:nvSpPr>
          <p:cNvPr id="11" name="Shape 8"/>
          <p:cNvSpPr/>
          <p:nvPr/>
        </p:nvSpPr>
        <p:spPr>
          <a:xfrm>
            <a:off x="4832604" y="2688336"/>
            <a:ext cx="621792" cy="621792"/>
          </a:xfrm>
          <a:prstGeom prst="ellipse">
            <a:avLst/>
          </a:prstGeom>
          <a:solidFill>
            <a:srgbClr val="16302B"/>
          </a:solidFill>
          <a:ln w="12700">
            <a:solidFill>
              <a:srgbClr val="1F4B44"/>
            </a:solidFill>
            <a:prstDash val="solid"/>
          </a:ln>
        </p:spPr>
      </p:sp>
      <p:pic>
        <p:nvPicPr>
          <p:cNvPr id="12" name="Image 1" descr="icons/mic.png">    </p:cNvPr>
          <p:cNvPicPr>
            <a:picLocks noChangeAspect="1"/>
          </p:cNvPicPr>
          <p:nvPr/>
        </p:nvPicPr>
        <p:blipFill>
          <a:blip r:embed="rId2"/>
          <a:stretch>
            <a:fillRect/>
          </a:stretch>
        </p:blipFill>
        <p:spPr>
          <a:xfrm>
            <a:off x="4994270" y="2850002"/>
            <a:ext cx="298460" cy="298460"/>
          </a:xfrm>
          <a:prstGeom prst="rect">
            <a:avLst/>
          </a:prstGeom>
        </p:spPr>
      </p:pic>
      <p:sp>
        <p:nvSpPr>
          <p:cNvPr id="13" name="Text 9"/>
          <p:cNvSpPr txBox="1"/>
          <p:nvPr/>
        </p:nvSpPr>
        <p:spPr>
          <a:xfrm>
            <a:off x="6871716" y="2670048"/>
            <a:ext cx="548640" cy="548640"/>
          </a:xfrm>
          <a:prstGeom prst="rect">
            <a:avLst/>
          </a:prstGeom>
          <a:noFill/>
          <a:ln/>
        </p:spPr>
        <p:txBody>
          <a:bodyPr wrap="square" lIns="0" tIns="0" rIns="0" bIns="0" rtlCol="0" anchor="ctr"/>
          <a:lstStyle/>
          <a:p>
            <a:pPr algn="r" indent="0" marL="0">
              <a:buNone/>
            </a:pPr>
            <a:r>
              <a:rPr lang="en-US" sz="3000" b="1" dirty="0">
                <a:solidFill>
                  <a:srgbClr val="1F332E"/>
                </a:solidFill>
                <a:latin typeface="Arial" pitchFamily="34" charset="0"/>
                <a:ea typeface="Arial" pitchFamily="34" charset="-122"/>
                <a:cs typeface="Arial" pitchFamily="34" charset="-120"/>
              </a:rPr>
              <a:t>2</a:t>
            </a:r>
            <a:endParaRPr lang="en-US" sz="3000" dirty="0"/>
          </a:p>
        </p:txBody>
      </p:sp>
      <p:sp>
        <p:nvSpPr>
          <p:cNvPr id="14" name="Text 10"/>
          <p:cNvSpPr txBox="1"/>
          <p:nvPr/>
        </p:nvSpPr>
        <p:spPr>
          <a:xfrm>
            <a:off x="4832604" y="3511296"/>
            <a:ext cx="2523744"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15-minute call</a:t>
            </a:r>
            <a:endParaRPr lang="en-US" sz="1800" dirty="0"/>
          </a:p>
        </p:txBody>
      </p:sp>
      <p:sp>
        <p:nvSpPr>
          <p:cNvPr id="15" name="Text 11"/>
          <p:cNvSpPr txBox="1"/>
          <p:nvPr/>
        </p:nvSpPr>
        <p:spPr>
          <a:xfrm>
            <a:off x="4832604" y="4114800"/>
            <a:ext cx="2523744" cy="64008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A real conversation. They can interrupt it.</a:t>
            </a:r>
            <a:endParaRPr lang="en-US" sz="1350" dirty="0"/>
          </a:p>
        </p:txBody>
      </p:sp>
      <p:sp>
        <p:nvSpPr>
          <p:cNvPr id="16" name="Shape 12"/>
          <p:cNvSpPr/>
          <p:nvPr/>
        </p:nvSpPr>
        <p:spPr>
          <a:xfrm>
            <a:off x="8257032" y="2395728"/>
            <a:ext cx="3291840" cy="2514600"/>
          </a:xfrm>
          <a:prstGeom prst="roundRect">
            <a:avLst>
              <a:gd name="adj" fmla="val 3636"/>
            </a:avLst>
          </a:prstGeom>
          <a:solidFill>
            <a:srgbClr val="152220"/>
          </a:solidFill>
          <a:ln w="12700">
            <a:solidFill>
              <a:srgbClr val="273733"/>
            </a:solidFill>
            <a:prstDash val="solid"/>
          </a:ln>
        </p:spPr>
      </p:sp>
      <p:sp>
        <p:nvSpPr>
          <p:cNvPr id="17" name="Shape 13"/>
          <p:cNvSpPr/>
          <p:nvPr/>
        </p:nvSpPr>
        <p:spPr>
          <a:xfrm>
            <a:off x="8641080" y="2688336"/>
            <a:ext cx="621792" cy="621792"/>
          </a:xfrm>
          <a:prstGeom prst="ellipse">
            <a:avLst/>
          </a:prstGeom>
          <a:solidFill>
            <a:srgbClr val="16302B"/>
          </a:solidFill>
          <a:ln w="12700">
            <a:solidFill>
              <a:srgbClr val="1F4B44"/>
            </a:solidFill>
            <a:prstDash val="solid"/>
          </a:ln>
        </p:spPr>
      </p:sp>
      <p:pic>
        <p:nvPicPr>
          <p:cNvPr id="18" name="Image 2" descr="icons/clip.png">    </p:cNvPr>
          <p:cNvPicPr>
            <a:picLocks noChangeAspect="1"/>
          </p:cNvPicPr>
          <p:nvPr/>
        </p:nvPicPr>
        <p:blipFill>
          <a:blip r:embed="rId3"/>
          <a:stretch>
            <a:fillRect/>
          </a:stretch>
        </p:blipFill>
        <p:spPr>
          <a:xfrm>
            <a:off x="8802746" y="2850002"/>
            <a:ext cx="298460" cy="298460"/>
          </a:xfrm>
          <a:prstGeom prst="rect">
            <a:avLst/>
          </a:prstGeom>
        </p:spPr>
      </p:pic>
      <p:sp>
        <p:nvSpPr>
          <p:cNvPr id="19" name="Text 14"/>
          <p:cNvSpPr txBox="1"/>
          <p:nvPr/>
        </p:nvSpPr>
        <p:spPr>
          <a:xfrm>
            <a:off x="10680192" y="2670048"/>
            <a:ext cx="548640" cy="548640"/>
          </a:xfrm>
          <a:prstGeom prst="rect">
            <a:avLst/>
          </a:prstGeom>
          <a:noFill/>
          <a:ln/>
        </p:spPr>
        <p:txBody>
          <a:bodyPr wrap="square" lIns="0" tIns="0" rIns="0" bIns="0" rtlCol="0" anchor="ctr"/>
          <a:lstStyle/>
          <a:p>
            <a:pPr algn="r" indent="0" marL="0">
              <a:buNone/>
            </a:pPr>
            <a:r>
              <a:rPr lang="en-US" sz="3000" b="1" dirty="0">
                <a:solidFill>
                  <a:srgbClr val="1F332E"/>
                </a:solidFill>
                <a:latin typeface="Arial" pitchFamily="34" charset="0"/>
                <a:ea typeface="Arial" pitchFamily="34" charset="-122"/>
                <a:cs typeface="Arial" pitchFamily="34" charset="-120"/>
              </a:rPr>
              <a:t>3</a:t>
            </a:r>
            <a:endParaRPr lang="en-US" sz="3000" dirty="0"/>
          </a:p>
        </p:txBody>
      </p:sp>
      <p:sp>
        <p:nvSpPr>
          <p:cNvPr id="20" name="Text 15"/>
          <p:cNvSpPr txBox="1"/>
          <p:nvPr/>
        </p:nvSpPr>
        <p:spPr>
          <a:xfrm>
            <a:off x="8641080" y="3511296"/>
            <a:ext cx="2523744"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You get a report</a:t>
            </a:r>
            <a:endParaRPr lang="en-US" sz="1800" dirty="0"/>
          </a:p>
        </p:txBody>
      </p:sp>
      <p:sp>
        <p:nvSpPr>
          <p:cNvPr id="21" name="Text 16"/>
          <p:cNvSpPr txBox="1"/>
          <p:nvPr/>
        </p:nvSpPr>
        <p:spPr>
          <a:xfrm>
            <a:off x="8641080" y="4114800"/>
            <a:ext cx="2523744" cy="64008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A score, and the quotes behind every part of it.</a:t>
            </a:r>
            <a:endParaRPr lang="en-US" sz="1350" dirty="0"/>
          </a:p>
        </p:txBody>
      </p:sp>
      <p:sp>
        <p:nvSpPr>
          <p:cNvPr id="22" name="Text 17"/>
          <p:cNvSpPr txBox="1"/>
          <p:nvPr/>
        </p:nvSpPr>
        <p:spPr>
          <a:xfrm>
            <a:off x="640080" y="5376672"/>
            <a:ext cx="10908792" cy="457200"/>
          </a:xfrm>
          <a:prstGeom prst="rect">
            <a:avLst/>
          </a:prstGeom>
          <a:noFill/>
          <a:ln/>
        </p:spPr>
        <p:txBody>
          <a:bodyPr wrap="square" lIns="0" tIns="0" rIns="0" bIns="0" rtlCol="0" anchor="ctr"/>
          <a:lstStyle/>
          <a:p>
            <a:pPr indent="0" marL="0">
              <a:buNone/>
            </a:pPr>
            <a:r>
              <a:rPr lang="en-US" sz="1250" dirty="0">
                <a:solidFill>
                  <a:srgbClr val="8A9995"/>
                </a:solidFill>
                <a:latin typeface="Calibri" pitchFamily="34" charset="0"/>
                <a:ea typeface="Calibri" pitchFamily="34" charset="-122"/>
                <a:cs typeface="Calibri" pitchFamily="34" charset="-120"/>
              </a:rPr>
              <a:t>Same questions, same clock, same bar — for everyone who applies.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WHAT MAKES IT DIFFERENT</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It does not take the first answer.</a:t>
            </a:r>
            <a:endParaRPr lang="en-US" sz="3600" dirty="0"/>
          </a:p>
        </p:txBody>
      </p:sp>
      <p:sp>
        <p:nvSpPr>
          <p:cNvPr id="4" name="Shape 2"/>
          <p:cNvSpPr/>
          <p:nvPr/>
        </p:nvSpPr>
        <p:spPr>
          <a:xfrm>
            <a:off x="640080" y="1874520"/>
            <a:ext cx="6675120" cy="566928"/>
          </a:xfrm>
          <a:prstGeom prst="roundRect">
            <a:avLst>
              <a:gd name="adj" fmla="val 16129"/>
            </a:avLst>
          </a:prstGeom>
          <a:solidFill>
            <a:srgbClr val="152220"/>
          </a:solidFill>
          <a:ln w="12700">
            <a:solidFill>
              <a:srgbClr val="273733"/>
            </a:solidFill>
            <a:prstDash val="solid"/>
          </a:ln>
        </p:spPr>
      </p:sp>
      <p:sp>
        <p:nvSpPr>
          <p:cNvPr id="5" name="Text 3"/>
          <p:cNvSpPr txBox="1"/>
          <p:nvPr/>
        </p:nvSpPr>
        <p:spPr>
          <a:xfrm>
            <a:off x="914400" y="1993392"/>
            <a:ext cx="6126480" cy="347472"/>
          </a:xfrm>
          <a:prstGeom prst="rect">
            <a:avLst/>
          </a:prstGeom>
          <a:noFill/>
          <a:ln/>
        </p:spPr>
        <p:txBody>
          <a:bodyPr wrap="square" lIns="0" tIns="0" rIns="0" bIns="0" rtlCol="0" anchor="ctr"/>
          <a:lstStyle/>
          <a:p>
            <a:pPr indent="0" marL="0">
              <a:buNone/>
            </a:pPr>
            <a:r>
              <a:rPr lang="en-US" sz="1400" dirty="0">
                <a:solidFill>
                  <a:srgbClr val="E6EDEB"/>
                </a:solidFill>
                <a:latin typeface="Calibri" pitchFamily="34" charset="0"/>
                <a:ea typeface="Calibri" pitchFamily="34" charset="-122"/>
                <a:cs typeface="Calibri" pitchFamily="34" charset="-120"/>
              </a:rPr>
              <a:t>Tell me about the hardest bug you fixed this year.</a:t>
            </a:r>
            <a:endParaRPr lang="en-US" sz="1400" dirty="0"/>
          </a:p>
        </p:txBody>
      </p:sp>
      <p:sp>
        <p:nvSpPr>
          <p:cNvPr id="6" name="Shape 4"/>
          <p:cNvSpPr/>
          <p:nvPr/>
        </p:nvSpPr>
        <p:spPr>
          <a:xfrm>
            <a:off x="5971032" y="2596896"/>
            <a:ext cx="5577840" cy="566928"/>
          </a:xfrm>
          <a:prstGeom prst="roundRect">
            <a:avLst>
              <a:gd name="adj" fmla="val 16129"/>
            </a:avLst>
          </a:prstGeom>
          <a:solidFill>
            <a:srgbClr val="13322D"/>
          </a:solidFill>
          <a:ln w="12700">
            <a:solidFill>
              <a:srgbClr val="1D554C"/>
            </a:solidFill>
            <a:prstDash val="solid"/>
          </a:ln>
        </p:spPr>
      </p:sp>
      <p:sp>
        <p:nvSpPr>
          <p:cNvPr id="7" name="Text 5"/>
          <p:cNvSpPr txBox="1"/>
          <p:nvPr/>
        </p:nvSpPr>
        <p:spPr>
          <a:xfrm>
            <a:off x="6245352" y="2715768"/>
            <a:ext cx="50292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race condition in our payment reconciler.</a:t>
            </a:r>
            <a:endParaRPr lang="en-US" sz="1400" dirty="0"/>
          </a:p>
        </p:txBody>
      </p:sp>
      <p:sp>
        <p:nvSpPr>
          <p:cNvPr id="8" name="Shape 6"/>
          <p:cNvSpPr/>
          <p:nvPr/>
        </p:nvSpPr>
        <p:spPr>
          <a:xfrm>
            <a:off x="640080" y="3319272"/>
            <a:ext cx="6675120" cy="566928"/>
          </a:xfrm>
          <a:prstGeom prst="roundRect">
            <a:avLst>
              <a:gd name="adj" fmla="val 16129"/>
            </a:avLst>
          </a:prstGeom>
          <a:solidFill>
            <a:srgbClr val="152220"/>
          </a:solidFill>
          <a:ln w="12700">
            <a:solidFill>
              <a:srgbClr val="273733"/>
            </a:solidFill>
            <a:prstDash val="solid"/>
          </a:ln>
        </p:spPr>
      </p:sp>
      <p:sp>
        <p:nvSpPr>
          <p:cNvPr id="9" name="Text 7"/>
          <p:cNvSpPr txBox="1"/>
          <p:nvPr/>
        </p:nvSpPr>
        <p:spPr>
          <a:xfrm>
            <a:off x="914400" y="3438144"/>
            <a:ext cx="6126480" cy="347472"/>
          </a:xfrm>
          <a:prstGeom prst="rect">
            <a:avLst/>
          </a:prstGeom>
          <a:noFill/>
          <a:ln/>
        </p:spPr>
        <p:txBody>
          <a:bodyPr wrap="square" lIns="0" tIns="0" rIns="0" bIns="0" rtlCol="0" anchor="ctr"/>
          <a:lstStyle/>
          <a:p>
            <a:pPr indent="0" marL="0">
              <a:buNone/>
            </a:pPr>
            <a:r>
              <a:rPr lang="en-US" sz="1400" dirty="0">
                <a:solidFill>
                  <a:srgbClr val="E6EDEB"/>
                </a:solidFill>
                <a:latin typeface="Calibri" pitchFamily="34" charset="0"/>
                <a:ea typeface="Calibri" pitchFamily="34" charset="-122"/>
                <a:cs typeface="Calibri" pitchFamily="34" charset="-120"/>
              </a:rPr>
              <a:t>What did you do there, as opposed to the rest of the team?</a:t>
            </a:r>
            <a:endParaRPr lang="en-US" sz="1400" dirty="0"/>
          </a:p>
        </p:txBody>
      </p:sp>
      <p:sp>
        <p:nvSpPr>
          <p:cNvPr id="10" name="Shape 8"/>
          <p:cNvSpPr/>
          <p:nvPr/>
        </p:nvSpPr>
        <p:spPr>
          <a:xfrm>
            <a:off x="5971032" y="4041648"/>
            <a:ext cx="5577840" cy="566928"/>
          </a:xfrm>
          <a:prstGeom prst="roundRect">
            <a:avLst>
              <a:gd name="adj" fmla="val 16129"/>
            </a:avLst>
          </a:prstGeom>
          <a:solidFill>
            <a:srgbClr val="13322D"/>
          </a:solidFill>
          <a:ln w="12700">
            <a:solidFill>
              <a:srgbClr val="1D554C"/>
            </a:solidFill>
            <a:prstDash val="solid"/>
          </a:ln>
        </p:spPr>
      </p:sp>
      <p:sp>
        <p:nvSpPr>
          <p:cNvPr id="11" name="Text 9"/>
          <p:cNvSpPr txBox="1"/>
          <p:nvPr/>
        </p:nvSpPr>
        <p:spPr>
          <a:xfrm>
            <a:off x="6245352" y="4160520"/>
            <a:ext cx="502920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 wrote the fix and the repro harness.</a:t>
            </a:r>
            <a:endParaRPr lang="en-US" sz="1400" dirty="0"/>
          </a:p>
        </p:txBody>
      </p:sp>
      <p:sp>
        <p:nvSpPr>
          <p:cNvPr id="12" name="Shape 10"/>
          <p:cNvSpPr/>
          <p:nvPr/>
        </p:nvSpPr>
        <p:spPr>
          <a:xfrm>
            <a:off x="640080" y="4764024"/>
            <a:ext cx="6675120" cy="566928"/>
          </a:xfrm>
          <a:prstGeom prst="roundRect">
            <a:avLst>
              <a:gd name="adj" fmla="val 16129"/>
            </a:avLst>
          </a:prstGeom>
          <a:solidFill>
            <a:srgbClr val="152220"/>
          </a:solidFill>
          <a:ln w="12700">
            <a:solidFill>
              <a:srgbClr val="273733"/>
            </a:solidFill>
            <a:prstDash val="solid"/>
          </a:ln>
        </p:spPr>
      </p:sp>
      <p:sp>
        <p:nvSpPr>
          <p:cNvPr id="13" name="Text 11"/>
          <p:cNvSpPr txBox="1"/>
          <p:nvPr/>
        </p:nvSpPr>
        <p:spPr>
          <a:xfrm>
            <a:off x="914400" y="4882896"/>
            <a:ext cx="6126480" cy="347472"/>
          </a:xfrm>
          <a:prstGeom prst="rect">
            <a:avLst/>
          </a:prstGeom>
          <a:noFill/>
          <a:ln/>
        </p:spPr>
        <p:txBody>
          <a:bodyPr wrap="square" lIns="0" tIns="0" rIns="0" bIns="0" rtlCol="0" anchor="ctr"/>
          <a:lstStyle/>
          <a:p>
            <a:pPr indent="0" marL="0">
              <a:buNone/>
            </a:pPr>
            <a:r>
              <a:rPr lang="en-US" sz="1400" dirty="0">
                <a:solidFill>
                  <a:srgbClr val="E6EDEB"/>
                </a:solidFill>
                <a:latin typeface="Calibri" pitchFamily="34" charset="0"/>
                <a:ea typeface="Calibri" pitchFamily="34" charset="-122"/>
                <a:cs typeface="Calibri" pitchFamily="34" charset="-120"/>
              </a:rPr>
              <a:t>What did you give up to get that?</a:t>
            </a:r>
            <a:endParaRPr lang="en-US" sz="1400" dirty="0"/>
          </a:p>
        </p:txBody>
      </p:sp>
      <p:sp>
        <p:nvSpPr>
          <p:cNvPr id="14" name="Text 12"/>
          <p:cNvSpPr txBox="1"/>
          <p:nvPr/>
        </p:nvSpPr>
        <p:spPr>
          <a:xfrm>
            <a:off x="640080" y="5742432"/>
            <a:ext cx="10908792" cy="457200"/>
          </a:xfrm>
          <a:prstGeom prst="rect">
            <a:avLst/>
          </a:prstGeom>
          <a:noFill/>
          <a:ln/>
        </p:spPr>
        <p:txBody>
          <a:bodyPr wrap="square" lIns="0" tIns="0" rIns="0" bIns="0" rtlCol="0" anchor="ctr"/>
          <a:lstStyle/>
          <a:p>
            <a:pPr indent="0" marL="0">
              <a:buNone/>
            </a:pPr>
            <a:r>
              <a:rPr lang="en-US" sz="1900" dirty="0">
                <a:solidFill>
                  <a:srgbClr val="2DD4BF"/>
                </a:solidFill>
                <a:latin typeface="Arial" pitchFamily="34" charset="0"/>
                <a:ea typeface="Arial" pitchFamily="34" charset="-122"/>
                <a:cs typeface="Arial" pitchFamily="34" charset="-120"/>
              </a:rPr>
              <a:t>Four follow-ups deep. That is where the real answer lives.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THE REPORT</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Every score comes with its quote.</a:t>
            </a:r>
            <a:endParaRPr lang="en-US" sz="3600" dirty="0"/>
          </a:p>
        </p:txBody>
      </p:sp>
      <p:sp>
        <p:nvSpPr>
          <p:cNvPr id="4" name="Text 2"/>
          <p:cNvSpPr txBox="1"/>
          <p:nvPr/>
        </p:nvSpPr>
        <p:spPr>
          <a:xfrm>
            <a:off x="640080" y="2057400"/>
            <a:ext cx="3931920" cy="1005840"/>
          </a:xfrm>
          <a:prstGeom prst="rect">
            <a:avLst/>
          </a:prstGeom>
          <a:noFill/>
          <a:ln/>
        </p:spPr>
        <p:txBody>
          <a:bodyPr wrap="square" lIns="0" tIns="0" rIns="0" bIns="0" rtlCol="0" anchor="ctr"/>
          <a:lstStyle/>
          <a:p>
            <a:pPr indent="0" marL="0">
              <a:lnSpc>
                <a:spcPts val="3000"/>
              </a:lnSpc>
              <a:buNone/>
            </a:pPr>
            <a:r>
              <a:rPr lang="en-US" sz="2400" b="1" dirty="0">
                <a:solidFill>
                  <a:srgbClr val="FFFFFF"/>
                </a:solidFill>
                <a:latin typeface="Arial" pitchFamily="34" charset="0"/>
                <a:ea typeface="Arial" pitchFamily="34" charset="-122"/>
                <a:cs typeface="Arial" pitchFamily="34" charset="-120"/>
              </a:rPr>
              <a:t>A recruiter reads it</a:t>
            </a:r>
            <a:endParaRPr lang="en-US" sz="2400" dirty="0"/>
          </a:p>
          <a:p>
            <a:pPr indent="0" marL="0">
              <a:lnSpc>
                <a:spcPts val="3000"/>
              </a:lnSpc>
              <a:buNone/>
            </a:pPr>
            <a:r>
              <a:rPr lang="en-US" sz="2400" b="1" dirty="0">
                <a:solidFill>
                  <a:srgbClr val="FFFFFF"/>
                </a:solidFill>
                <a:latin typeface="Arial" pitchFamily="34" charset="0"/>
                <a:ea typeface="Arial" pitchFamily="34" charset="-122"/>
                <a:cs typeface="Arial" pitchFamily="34" charset="-120"/>
              </a:rPr>
              <a:t>in 90 seconds.</a:t>
            </a:r>
            <a:endParaRPr lang="en-US" sz="2400" dirty="0"/>
          </a:p>
        </p:txBody>
      </p:sp>
      <p:sp>
        <p:nvSpPr>
          <p:cNvPr id="5" name="Text 3"/>
          <p:cNvSpPr txBox="1"/>
          <p:nvPr/>
        </p:nvSpPr>
        <p:spPr>
          <a:xfrm>
            <a:off x="640080" y="3200400"/>
            <a:ext cx="3931920" cy="1097280"/>
          </a:xfrm>
          <a:prstGeom prst="rect">
            <a:avLst/>
          </a:prstGeom>
          <a:noFill/>
          <a:ln/>
        </p:spPr>
        <p:txBody>
          <a:bodyPr wrap="square" lIns="0" tIns="0" rIns="0" bIns="0" rtlCol="0" anchor="ctr"/>
          <a:lstStyle/>
          <a:p>
            <a:pPr indent="0" marL="0">
              <a:buNone/>
            </a:pPr>
            <a:r>
              <a:rPr lang="en-US" sz="1450" dirty="0">
                <a:solidFill>
                  <a:srgbClr val="8A9995"/>
                </a:solidFill>
                <a:latin typeface="Calibri" pitchFamily="34" charset="0"/>
                <a:ea typeface="Calibri" pitchFamily="34" charset="-122"/>
                <a:cs typeface="Calibri" pitchFamily="34" charset="-120"/>
              </a:rPr>
              <a:t>A hiring manager can argue with it, because the evidence is right there.</a:t>
            </a:r>
            <a:endParaRPr lang="en-US" sz="1450" dirty="0"/>
          </a:p>
        </p:txBody>
      </p:sp>
      <p:sp>
        <p:nvSpPr>
          <p:cNvPr id="6" name="Shape 4"/>
          <p:cNvSpPr/>
          <p:nvPr/>
        </p:nvSpPr>
        <p:spPr>
          <a:xfrm>
            <a:off x="5120640" y="1874520"/>
            <a:ext cx="6428232" cy="3794760"/>
          </a:xfrm>
          <a:prstGeom prst="roundRect">
            <a:avLst>
              <a:gd name="adj" fmla="val 2410"/>
            </a:avLst>
          </a:prstGeom>
          <a:solidFill>
            <a:srgbClr val="10201D"/>
          </a:solidFill>
          <a:ln w="12700">
            <a:solidFill>
              <a:srgbClr val="273733"/>
            </a:solidFill>
            <a:prstDash val="solid"/>
          </a:ln>
        </p:spPr>
      </p:sp>
      <p:sp>
        <p:nvSpPr>
          <p:cNvPr id="7" name="Text 5"/>
          <p:cNvSpPr txBox="1"/>
          <p:nvPr/>
        </p:nvSpPr>
        <p:spPr>
          <a:xfrm>
            <a:off x="5532120" y="2103120"/>
            <a:ext cx="1645920" cy="594360"/>
          </a:xfrm>
          <a:prstGeom prst="rect">
            <a:avLst/>
          </a:prstGeom>
          <a:noFill/>
          <a:ln/>
        </p:spPr>
        <p:txBody>
          <a:bodyPr wrap="square" lIns="0" tIns="0" rIns="0" bIns="0" rtlCol="0" anchor="ctr"/>
          <a:lstStyle/>
          <a:p>
            <a:pPr indent="0" marL="0">
              <a:buNone/>
            </a:pPr>
            <a:r>
              <a:rPr lang="en-US" sz="3400" b="1" dirty="0">
                <a:solidFill>
                  <a:srgbClr val="2DD4BF"/>
                </a:solidFill>
                <a:latin typeface="Arial" pitchFamily="34" charset="0"/>
                <a:ea typeface="Arial" pitchFamily="34" charset="-122"/>
                <a:cs typeface="Arial" pitchFamily="34" charset="-120"/>
              </a:rPr>
              <a:t>7 / 10</a:t>
            </a:r>
            <a:endParaRPr lang="en-US" sz="3400" dirty="0"/>
          </a:p>
        </p:txBody>
      </p:sp>
      <p:sp>
        <p:nvSpPr>
          <p:cNvPr id="8" name="Text 6"/>
          <p:cNvSpPr txBox="1"/>
          <p:nvPr/>
        </p:nvSpPr>
        <p:spPr>
          <a:xfrm>
            <a:off x="7223760" y="2304288"/>
            <a:ext cx="3291840" cy="365760"/>
          </a:xfrm>
          <a:prstGeom prst="rect">
            <a:avLst/>
          </a:prstGeom>
          <a:noFill/>
          <a:ln/>
        </p:spPr>
        <p:txBody>
          <a:bodyPr wrap="square" lIns="0" tIns="0" rIns="0" bIns="0" rtlCol="0" anchor="ctr"/>
          <a:lstStyle/>
          <a:p>
            <a:pPr indent="0" marL="0">
              <a:buNone/>
            </a:pPr>
            <a:r>
              <a:rPr lang="en-US" sz="1400" dirty="0">
                <a:solidFill>
                  <a:srgbClr val="8A9995"/>
                </a:solidFill>
                <a:latin typeface="Calibri" pitchFamily="34" charset="0"/>
                <a:ea typeface="Calibri" pitchFamily="34" charset="-122"/>
                <a:cs typeface="Calibri" pitchFamily="34" charset="-120"/>
              </a:rPr>
              <a:t>advance with reservations</a:t>
            </a:r>
            <a:endParaRPr lang="en-US" sz="1400" dirty="0"/>
          </a:p>
        </p:txBody>
      </p:sp>
      <p:sp>
        <p:nvSpPr>
          <p:cNvPr id="9" name="Text 7"/>
          <p:cNvSpPr txBox="1"/>
          <p:nvPr/>
        </p:nvSpPr>
        <p:spPr>
          <a:xfrm>
            <a:off x="5532120" y="2926080"/>
            <a:ext cx="164592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Ownership</a:t>
            </a:r>
            <a:endParaRPr lang="en-US" sz="1400" dirty="0"/>
          </a:p>
        </p:txBody>
      </p:sp>
      <p:sp>
        <p:nvSpPr>
          <p:cNvPr id="10" name="Text 8"/>
          <p:cNvSpPr txBox="1"/>
          <p:nvPr/>
        </p:nvSpPr>
        <p:spPr>
          <a:xfrm>
            <a:off x="7223760" y="2926080"/>
            <a:ext cx="640080" cy="274320"/>
          </a:xfrm>
          <a:prstGeom prst="rect">
            <a:avLst/>
          </a:prstGeom>
          <a:noFill/>
          <a:ln/>
        </p:spPr>
        <p:txBody>
          <a:bodyPr wrap="square" lIns="0" tIns="0" rIns="0" bIns="0" rtlCol="0" anchor="ctr"/>
          <a:lstStyle/>
          <a:p>
            <a:pPr indent="0" marL="0">
              <a:buNone/>
            </a:pPr>
            <a:r>
              <a:rPr lang="en-US" sz="1400" b="1" dirty="0">
                <a:solidFill>
                  <a:srgbClr val="2DD4BF"/>
                </a:solidFill>
                <a:latin typeface="Arial" pitchFamily="34" charset="0"/>
                <a:ea typeface="Arial" pitchFamily="34" charset="-122"/>
                <a:cs typeface="Arial" pitchFamily="34" charset="-120"/>
              </a:rPr>
              <a:t>3/4</a:t>
            </a:r>
            <a:endParaRPr lang="en-US" sz="1400" dirty="0"/>
          </a:p>
        </p:txBody>
      </p:sp>
      <p:sp>
        <p:nvSpPr>
          <p:cNvPr id="11" name="Text 9"/>
          <p:cNvSpPr txBox="1"/>
          <p:nvPr/>
        </p:nvSpPr>
        <p:spPr>
          <a:xfrm>
            <a:off x="5532120" y="3218688"/>
            <a:ext cx="5605272" cy="320040"/>
          </a:xfrm>
          <a:prstGeom prst="rect">
            <a:avLst/>
          </a:prstGeom>
          <a:noFill/>
          <a:ln/>
        </p:spPr>
        <p:txBody>
          <a:bodyPr wrap="square" lIns="0" tIns="0" rIns="0" bIns="0" rtlCol="0" anchor="ctr"/>
          <a:lstStyle/>
          <a:p>
            <a:pPr indent="0" marL="0">
              <a:buNone/>
            </a:pPr>
            <a:r>
              <a:rPr lang="en-US" sz="1300" i="1" dirty="0">
                <a:solidFill>
                  <a:srgbClr val="8A9995"/>
                </a:solidFill>
                <a:latin typeface="Calibri" pitchFamily="34" charset="0"/>
                <a:ea typeface="Calibri" pitchFamily="34" charset="-122"/>
                <a:cs typeface="Calibri" pitchFamily="34" charset="-120"/>
              </a:rPr>
              <a:t>“i wrote the fix and the repro harness”</a:t>
            </a:r>
            <a:endParaRPr lang="en-US" sz="1300" dirty="0"/>
          </a:p>
        </p:txBody>
      </p:sp>
      <p:sp>
        <p:nvSpPr>
          <p:cNvPr id="12" name="Text 10"/>
          <p:cNvSpPr txBox="1"/>
          <p:nvPr/>
        </p:nvSpPr>
        <p:spPr>
          <a:xfrm>
            <a:off x="5532120" y="3712464"/>
            <a:ext cx="164592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Trade-offs</a:t>
            </a:r>
            <a:endParaRPr lang="en-US" sz="1400" dirty="0"/>
          </a:p>
        </p:txBody>
      </p:sp>
      <p:sp>
        <p:nvSpPr>
          <p:cNvPr id="13" name="Text 11"/>
          <p:cNvSpPr txBox="1"/>
          <p:nvPr/>
        </p:nvSpPr>
        <p:spPr>
          <a:xfrm>
            <a:off x="7223760" y="3712464"/>
            <a:ext cx="640080" cy="274320"/>
          </a:xfrm>
          <a:prstGeom prst="rect">
            <a:avLst/>
          </a:prstGeom>
          <a:noFill/>
          <a:ln/>
        </p:spPr>
        <p:txBody>
          <a:bodyPr wrap="square" lIns="0" tIns="0" rIns="0" bIns="0" rtlCol="0" anchor="ctr"/>
          <a:lstStyle/>
          <a:p>
            <a:pPr indent="0" marL="0">
              <a:buNone/>
            </a:pPr>
            <a:r>
              <a:rPr lang="en-US" sz="1400" b="1" dirty="0">
                <a:solidFill>
                  <a:srgbClr val="2DD4BF"/>
                </a:solidFill>
                <a:latin typeface="Arial" pitchFamily="34" charset="0"/>
                <a:ea typeface="Arial" pitchFamily="34" charset="-122"/>
                <a:cs typeface="Arial" pitchFamily="34" charset="-120"/>
              </a:rPr>
              <a:t>3/4</a:t>
            </a:r>
            <a:endParaRPr lang="en-US" sz="1400" dirty="0"/>
          </a:p>
        </p:txBody>
      </p:sp>
      <p:sp>
        <p:nvSpPr>
          <p:cNvPr id="14" name="Text 12"/>
          <p:cNvSpPr txBox="1"/>
          <p:nvPr/>
        </p:nvSpPr>
        <p:spPr>
          <a:xfrm>
            <a:off x="5532120" y="4005072"/>
            <a:ext cx="5605272" cy="320040"/>
          </a:xfrm>
          <a:prstGeom prst="rect">
            <a:avLst/>
          </a:prstGeom>
          <a:noFill/>
          <a:ln/>
        </p:spPr>
        <p:txBody>
          <a:bodyPr wrap="square" lIns="0" tIns="0" rIns="0" bIns="0" rtlCol="0" anchor="ctr"/>
          <a:lstStyle/>
          <a:p>
            <a:pPr indent="0" marL="0">
              <a:buNone/>
            </a:pPr>
            <a:r>
              <a:rPr lang="en-US" sz="1300" i="1" dirty="0">
                <a:solidFill>
                  <a:srgbClr val="8A9995"/>
                </a:solidFill>
                <a:latin typeface="Calibri" pitchFamily="34" charset="0"/>
                <a:ea typeface="Calibri" pitchFamily="34" charset="-122"/>
                <a:cs typeface="Calibri" pitchFamily="34" charset="-120"/>
              </a:rPr>
              <a:t>“we gave up strict ordering across shards”</a:t>
            </a:r>
            <a:endParaRPr lang="en-US" sz="1300" dirty="0"/>
          </a:p>
        </p:txBody>
      </p:sp>
      <p:sp>
        <p:nvSpPr>
          <p:cNvPr id="15" name="Text 13"/>
          <p:cNvSpPr txBox="1"/>
          <p:nvPr/>
        </p:nvSpPr>
        <p:spPr>
          <a:xfrm>
            <a:off x="5532120" y="4498848"/>
            <a:ext cx="164592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Debugging</a:t>
            </a:r>
            <a:endParaRPr lang="en-US" sz="1400" dirty="0"/>
          </a:p>
        </p:txBody>
      </p:sp>
      <p:sp>
        <p:nvSpPr>
          <p:cNvPr id="16" name="Text 14"/>
          <p:cNvSpPr txBox="1"/>
          <p:nvPr/>
        </p:nvSpPr>
        <p:spPr>
          <a:xfrm>
            <a:off x="7223760" y="4498848"/>
            <a:ext cx="640080" cy="274320"/>
          </a:xfrm>
          <a:prstGeom prst="rect">
            <a:avLst/>
          </a:prstGeom>
          <a:noFill/>
          <a:ln/>
        </p:spPr>
        <p:txBody>
          <a:bodyPr wrap="square" lIns="0" tIns="0" rIns="0" bIns="0" rtlCol="0" anchor="ctr"/>
          <a:lstStyle/>
          <a:p>
            <a:pPr indent="0" marL="0">
              <a:buNone/>
            </a:pPr>
            <a:r>
              <a:rPr lang="en-US" sz="1400" b="1" dirty="0">
                <a:solidFill>
                  <a:srgbClr val="2DD4BF"/>
                </a:solidFill>
                <a:latin typeface="Arial" pitchFamily="34" charset="0"/>
                <a:ea typeface="Arial" pitchFamily="34" charset="-122"/>
                <a:cs typeface="Arial" pitchFamily="34" charset="-120"/>
              </a:rPr>
              <a:t>3/4</a:t>
            </a:r>
            <a:endParaRPr lang="en-US" sz="1400" dirty="0"/>
          </a:p>
        </p:txBody>
      </p:sp>
      <p:sp>
        <p:nvSpPr>
          <p:cNvPr id="17" name="Text 15"/>
          <p:cNvSpPr txBox="1"/>
          <p:nvPr/>
        </p:nvSpPr>
        <p:spPr>
          <a:xfrm>
            <a:off x="5532120" y="4791456"/>
            <a:ext cx="5605272" cy="320040"/>
          </a:xfrm>
          <a:prstGeom prst="rect">
            <a:avLst/>
          </a:prstGeom>
          <a:noFill/>
          <a:ln/>
        </p:spPr>
        <p:txBody>
          <a:bodyPr wrap="square" lIns="0" tIns="0" rIns="0" bIns="0" rtlCol="0" anchor="ctr"/>
          <a:lstStyle/>
          <a:p>
            <a:pPr indent="0" marL="0">
              <a:buNone/>
            </a:pPr>
            <a:r>
              <a:rPr lang="en-US" sz="1300" i="1" dirty="0">
                <a:solidFill>
                  <a:srgbClr val="8A9995"/>
                </a:solidFill>
                <a:latin typeface="Calibri" pitchFamily="34" charset="0"/>
                <a:ea typeface="Calibri" pitchFamily="34" charset="-122"/>
                <a:cs typeface="Calibri" pitchFamily="34" charset="-120"/>
              </a:rPr>
              <a:t>“a downstream report started double counting”</a:t>
            </a:r>
            <a:endParaRPr lang="en-US" sz="1300" dirty="0"/>
          </a:p>
        </p:txBody>
      </p:sp>
      <p:sp>
        <p:nvSpPr>
          <p:cNvPr id="18" name="Text 16"/>
          <p:cNvSpPr txBox="1"/>
          <p:nvPr/>
        </p:nvSpPr>
        <p:spPr>
          <a:xfrm>
            <a:off x="5532120" y="5230368"/>
            <a:ext cx="5605272" cy="320040"/>
          </a:xfrm>
          <a:prstGeom prst="rect">
            <a:avLst/>
          </a:prstGeom>
          <a:noFill/>
          <a:ln/>
        </p:spPr>
        <p:txBody>
          <a:bodyPr wrap="square" lIns="0" tIns="0" rIns="0" bIns="0" rtlCol="0" anchor="ctr"/>
          <a:lstStyle/>
          <a:p>
            <a:pPr indent="0" marL="0">
              <a:buNone/>
            </a:pPr>
            <a:r>
              <a:rPr lang="en-US" sz="1250" dirty="0">
                <a:solidFill>
                  <a:srgbClr val="63726E"/>
                </a:solidFill>
                <a:latin typeface="Calibri" pitchFamily="34" charset="0"/>
                <a:ea typeface="Calibri" pitchFamily="34" charset="-122"/>
                <a:cs typeface="Calibri" pitchFamily="34" charset="-120"/>
              </a:rPr>
              <a:t>A human decides. zeg only gathers the evidence.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THE PART WE ARE PROUDEST OF</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It tells you when it does not know.</a:t>
            </a:r>
            <a:endParaRPr lang="en-US" sz="3600" dirty="0"/>
          </a:p>
        </p:txBody>
      </p:sp>
      <p:sp>
        <p:nvSpPr>
          <p:cNvPr id="4" name="Shape 2"/>
          <p:cNvSpPr/>
          <p:nvPr/>
        </p:nvSpPr>
        <p:spPr>
          <a:xfrm>
            <a:off x="640080" y="2468880"/>
            <a:ext cx="5193792" cy="2514600"/>
          </a:xfrm>
          <a:prstGeom prst="roundRect">
            <a:avLst>
              <a:gd name="adj" fmla="val 3636"/>
            </a:avLst>
          </a:prstGeom>
          <a:solidFill>
            <a:srgbClr val="10201D"/>
          </a:solidFill>
          <a:ln w="12700">
            <a:solidFill>
              <a:srgbClr val="273733"/>
            </a:solidFill>
            <a:prstDash val="solid"/>
          </a:ln>
        </p:spPr>
      </p:sp>
      <p:sp>
        <p:nvSpPr>
          <p:cNvPr id="5" name="Shape 3"/>
          <p:cNvSpPr/>
          <p:nvPr/>
        </p:nvSpPr>
        <p:spPr>
          <a:xfrm>
            <a:off x="1051560" y="2770632"/>
            <a:ext cx="548640" cy="548640"/>
          </a:xfrm>
          <a:prstGeom prst="ellipse">
            <a:avLst/>
          </a:prstGeom>
          <a:solidFill>
            <a:srgbClr val="2A1F1F"/>
          </a:solidFill>
          <a:ln w="12700">
            <a:solidFill>
              <a:srgbClr val="1F4B44"/>
            </a:solidFill>
            <a:prstDash val="solid"/>
          </a:ln>
        </p:spPr>
      </p:sp>
      <p:pic>
        <p:nvPicPr>
          <p:cNvPr id="6" name="Image 0" descr="icons/alert.png">    </p:cNvPr>
          <p:cNvPicPr>
            <a:picLocks noChangeAspect="1"/>
          </p:cNvPicPr>
          <p:nvPr/>
        </p:nvPicPr>
        <p:blipFill>
          <a:blip r:embed="rId1"/>
          <a:stretch>
            <a:fillRect/>
          </a:stretch>
        </p:blipFill>
        <p:spPr>
          <a:xfrm>
            <a:off x="1194206" y="2913278"/>
            <a:ext cx="263347" cy="263347"/>
          </a:xfrm>
          <a:prstGeom prst="rect">
            <a:avLst/>
          </a:prstGeom>
        </p:spPr>
      </p:pic>
      <p:sp>
        <p:nvSpPr>
          <p:cNvPr id="7" name="Text 4"/>
          <p:cNvSpPr txBox="1"/>
          <p:nvPr/>
        </p:nvSpPr>
        <p:spPr>
          <a:xfrm>
            <a:off x="1051560" y="3474720"/>
            <a:ext cx="4370832" cy="365760"/>
          </a:xfrm>
          <a:prstGeom prst="rect">
            <a:avLst/>
          </a:prstGeom>
          <a:noFill/>
          <a:ln/>
        </p:spPr>
        <p:txBody>
          <a:bodyPr wrap="square" lIns="0" tIns="0" rIns="0" bIns="0" rtlCol="0" anchor="ctr"/>
          <a:lstStyle/>
          <a:p>
            <a:pPr indent="0" marL="0">
              <a:buNone/>
            </a:pPr>
            <a:r>
              <a:rPr lang="en-US" sz="2000" b="1" dirty="0">
                <a:solidFill>
                  <a:srgbClr val="8A9995"/>
                </a:solidFill>
                <a:latin typeface="Arial" pitchFamily="34" charset="0"/>
                <a:ea typeface="Arial" pitchFamily="34" charset="-122"/>
                <a:cs typeface="Arial" pitchFamily="34" charset="-120"/>
              </a:rPr>
              <a:t>Most tools</a:t>
            </a:r>
            <a:endParaRPr lang="en-US" sz="2000" dirty="0"/>
          </a:p>
        </p:txBody>
      </p:sp>
      <p:sp>
        <p:nvSpPr>
          <p:cNvPr id="8" name="Text 5"/>
          <p:cNvSpPr txBox="1"/>
          <p:nvPr/>
        </p:nvSpPr>
        <p:spPr>
          <a:xfrm>
            <a:off x="1051560" y="3904488"/>
            <a:ext cx="4370832" cy="822960"/>
          </a:xfrm>
          <a:prstGeom prst="rect">
            <a:avLst/>
          </a:prstGeom>
          <a:noFill/>
          <a:ln/>
        </p:spPr>
        <p:txBody>
          <a:bodyPr wrap="square" lIns="0" tIns="0" rIns="0" bIns="0" rtlCol="0" anchor="ctr"/>
          <a:lstStyle/>
          <a:p>
            <a:pPr indent="0" marL="0">
              <a:buNone/>
            </a:pPr>
            <a:r>
              <a:rPr lang="en-US" sz="1400" dirty="0">
                <a:solidFill>
                  <a:srgbClr val="63726E"/>
                </a:solidFill>
                <a:latin typeface="Calibri" pitchFamily="34" charset="0"/>
                <a:ea typeface="Calibri" pitchFamily="34" charset="-122"/>
                <a:cs typeface="Calibri" pitchFamily="34" charset="-120"/>
              </a:rPr>
              <a:t>Thin answer, quiet guess.</a:t>
            </a:r>
            <a:endParaRPr lang="en-US" sz="1400" dirty="0"/>
          </a:p>
          <a:p>
            <a:pPr indent="0" marL="0">
              <a:buNone/>
            </a:pPr>
            <a:r>
              <a:rPr lang="en-US" sz="1400" dirty="0">
                <a:solidFill>
                  <a:srgbClr val="63726E"/>
                </a:solidFill>
                <a:latin typeface="Calibri" pitchFamily="34" charset="0"/>
                <a:ea typeface="Calibri" pitchFamily="34" charset="-122"/>
                <a:cs typeface="Calibri" pitchFamily="34" charset="-120"/>
              </a:rPr>
              <a:t>You get a low score and no idea why.</a:t>
            </a:r>
            <a:endParaRPr lang="en-US" sz="1400" dirty="0"/>
          </a:p>
        </p:txBody>
      </p:sp>
      <p:sp>
        <p:nvSpPr>
          <p:cNvPr id="9" name="Shape 6"/>
          <p:cNvSpPr/>
          <p:nvPr/>
        </p:nvSpPr>
        <p:spPr>
          <a:xfrm>
            <a:off x="6355080" y="2468880"/>
            <a:ext cx="5193792" cy="2514600"/>
          </a:xfrm>
          <a:prstGeom prst="roundRect">
            <a:avLst>
              <a:gd name="adj" fmla="val 3636"/>
            </a:avLst>
          </a:prstGeom>
          <a:solidFill>
            <a:srgbClr val="13322D"/>
          </a:solidFill>
          <a:ln w="12700">
            <a:solidFill>
              <a:srgbClr val="1D554C"/>
            </a:solidFill>
            <a:prstDash val="solid"/>
          </a:ln>
        </p:spPr>
      </p:sp>
      <p:sp>
        <p:nvSpPr>
          <p:cNvPr id="10" name="Shape 7"/>
          <p:cNvSpPr/>
          <p:nvPr/>
        </p:nvSpPr>
        <p:spPr>
          <a:xfrm>
            <a:off x="6766560" y="2770632"/>
            <a:ext cx="548640" cy="548640"/>
          </a:xfrm>
          <a:prstGeom prst="ellipse">
            <a:avLst/>
          </a:prstGeom>
          <a:solidFill>
            <a:srgbClr val="16302B"/>
          </a:solidFill>
          <a:ln w="12700">
            <a:solidFill>
              <a:srgbClr val="1F4B44"/>
            </a:solidFill>
            <a:prstDash val="solid"/>
          </a:ln>
        </p:spPr>
      </p:sp>
      <p:pic>
        <p:nvPicPr>
          <p:cNvPr id="11" name="Image 1" descr="icons/scale.png">    </p:cNvPr>
          <p:cNvPicPr>
            <a:picLocks noChangeAspect="1"/>
          </p:cNvPicPr>
          <p:nvPr/>
        </p:nvPicPr>
        <p:blipFill>
          <a:blip r:embed="rId2"/>
          <a:stretch>
            <a:fillRect/>
          </a:stretch>
        </p:blipFill>
        <p:spPr>
          <a:xfrm>
            <a:off x="6909206" y="2913278"/>
            <a:ext cx="263347" cy="263347"/>
          </a:xfrm>
          <a:prstGeom prst="rect">
            <a:avLst/>
          </a:prstGeom>
        </p:spPr>
      </p:pic>
      <p:sp>
        <p:nvSpPr>
          <p:cNvPr id="12" name="Text 8"/>
          <p:cNvSpPr txBox="1"/>
          <p:nvPr/>
        </p:nvSpPr>
        <p:spPr>
          <a:xfrm>
            <a:off x="6766560" y="3474720"/>
            <a:ext cx="4370832" cy="365760"/>
          </a:xfrm>
          <a:prstGeom prst="rect">
            <a:avLst/>
          </a:prstGeom>
          <a:noFill/>
          <a:ln/>
        </p:spPr>
        <p:txBody>
          <a:bodyPr wrap="square" lIns="0" tIns="0" rIns="0" bIns="0" rtlCol="0" anchor="ctr"/>
          <a:lstStyle/>
          <a:p>
            <a:pPr indent="0" marL="0">
              <a:buNone/>
            </a:pPr>
            <a:r>
              <a:rPr lang="en-US" sz="2000" b="1" dirty="0">
                <a:solidFill>
                  <a:srgbClr val="2DD4BF"/>
                </a:solidFill>
                <a:latin typeface="Arial" pitchFamily="34" charset="0"/>
                <a:ea typeface="Arial" pitchFamily="34" charset="-122"/>
                <a:cs typeface="Arial" pitchFamily="34" charset="-120"/>
              </a:rPr>
              <a:t>zeg</a:t>
            </a:r>
            <a:endParaRPr lang="en-US" sz="2000" dirty="0"/>
          </a:p>
        </p:txBody>
      </p:sp>
      <p:sp>
        <p:nvSpPr>
          <p:cNvPr id="13" name="Text 9"/>
          <p:cNvSpPr txBox="1"/>
          <p:nvPr/>
        </p:nvSpPr>
        <p:spPr>
          <a:xfrm>
            <a:off x="6766560" y="3904488"/>
            <a:ext cx="4370832" cy="822960"/>
          </a:xfrm>
          <a:prstGeom prst="rect">
            <a:avLst/>
          </a:prstGeom>
          <a:noFill/>
          <a:ln/>
        </p:spPr>
        <p:txBody>
          <a:bodyPr wrap="square" lIns="0" tIns="0" rIns="0" bIns="0" rtlCol="0" anchor="ctr"/>
          <a:lstStyle/>
          <a:p>
            <a:pPr indent="0" marL="0">
              <a:buNone/>
            </a:pPr>
            <a:r>
              <a:rPr lang="en-US" sz="1400" dirty="0">
                <a:solidFill>
                  <a:srgbClr val="E6EDEB"/>
                </a:solidFill>
                <a:latin typeface="Calibri" pitchFamily="34" charset="0"/>
                <a:ea typeface="Calibri" pitchFamily="34" charset="-122"/>
                <a:cs typeface="Calibri" pitchFamily="34" charset="-120"/>
              </a:rPr>
              <a:t>“Not enough evidence.”</a:t>
            </a:r>
            <a:endParaRPr lang="en-US" sz="1400" dirty="0"/>
          </a:p>
          <a:p>
            <a:pPr indent="0" marL="0">
              <a:buNone/>
            </a:pPr>
            <a:r>
              <a:rPr lang="en-US" sz="1400" dirty="0">
                <a:solidFill>
                  <a:srgbClr val="E6EDEB"/>
                </a:solidFill>
                <a:latin typeface="Calibri" pitchFamily="34" charset="0"/>
                <a:ea typeface="Calibri" pitchFamily="34" charset="-122"/>
                <a:cs typeface="Calibri" pitchFamily="34" charset="-120"/>
              </a:rPr>
              <a:t>That is an answer, not a failure.</a:t>
            </a:r>
            <a:endParaRPr lang="en-US" sz="1400" dirty="0"/>
          </a:p>
        </p:txBody>
      </p:sp>
      <p:sp>
        <p:nvSpPr>
          <p:cNvPr id="14" name="Text 10"/>
          <p:cNvSpPr txBox="1"/>
          <p:nvPr/>
        </p:nvSpPr>
        <p:spPr>
          <a:xfrm>
            <a:off x="640080" y="5440680"/>
            <a:ext cx="10908792" cy="457200"/>
          </a:xfrm>
          <a:prstGeom prst="rect">
            <a:avLst/>
          </a:prstGeom>
          <a:noFill/>
          <a:ln/>
        </p:spPr>
        <p:txBody>
          <a:bodyPr wrap="square" lIns="0" tIns="0" rIns="0" bIns="0" rtlCol="0" anchor="ctr"/>
          <a:lstStyle/>
          <a:p>
            <a:pPr indent="0" marL="0">
              <a:buNone/>
            </a:pPr>
            <a:r>
              <a:rPr lang="en-US" sz="2100" dirty="0">
                <a:solidFill>
                  <a:srgbClr val="FFFFFF"/>
                </a:solidFill>
                <a:latin typeface="Arial" pitchFamily="34" charset="0"/>
                <a:ea typeface="Arial" pitchFamily="34" charset="-122"/>
                <a:cs typeface="Arial" pitchFamily="34" charset="-120"/>
              </a:rPr>
              <a:t>A made-up number in a hiring report is worse than no report.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FAIRNESS</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What they said. Not how they said it.</a:t>
            </a:r>
            <a:endParaRPr lang="en-US" sz="3600" dirty="0"/>
          </a:p>
        </p:txBody>
      </p:sp>
      <p:sp>
        <p:nvSpPr>
          <p:cNvPr id="4" name="Text 2"/>
          <p:cNvSpPr txBox="1"/>
          <p:nvPr/>
        </p:nvSpPr>
        <p:spPr>
          <a:xfrm>
            <a:off x="640080" y="1783080"/>
            <a:ext cx="10607040" cy="411480"/>
          </a:xfrm>
          <a:prstGeom prst="rect">
            <a:avLst/>
          </a:prstGeom>
          <a:noFill/>
          <a:ln/>
        </p:spPr>
        <p:txBody>
          <a:bodyPr wrap="square" lIns="0" tIns="0" rIns="0" bIns="0" rtlCol="0" anchor="ctr"/>
          <a:lstStyle/>
          <a:p>
            <a:pPr indent="0" marL="0">
              <a:buNone/>
            </a:pPr>
            <a:r>
              <a:rPr lang="en-US" sz="1500" dirty="0">
                <a:solidFill>
                  <a:srgbClr val="8A9995"/>
                </a:solidFill>
                <a:latin typeface="Calibri" pitchFamily="34" charset="0"/>
                <a:ea typeface="Calibri" pitchFamily="34" charset="-122"/>
                <a:cs typeface="Calibri" pitchFamily="34" charset="-120"/>
              </a:rPr>
              <a:t>We tested it against itself: the same answer, twice, one with “um” and “you know” left in.</a:t>
            </a:r>
            <a:endParaRPr lang="en-US" sz="1500" dirty="0"/>
          </a:p>
        </p:txBody>
      </p:sp>
      <p:sp>
        <p:nvSpPr>
          <p:cNvPr id="5" name="Shape 3"/>
          <p:cNvSpPr/>
          <p:nvPr/>
        </p:nvSpPr>
        <p:spPr>
          <a:xfrm>
            <a:off x="640080" y="2423160"/>
            <a:ext cx="5193792" cy="2377440"/>
          </a:xfrm>
          <a:prstGeom prst="roundRect">
            <a:avLst>
              <a:gd name="adj" fmla="val 3846"/>
            </a:avLst>
          </a:prstGeom>
          <a:solidFill>
            <a:srgbClr val="10201D"/>
          </a:solidFill>
          <a:ln w="12700">
            <a:solidFill>
              <a:srgbClr val="273733"/>
            </a:solidFill>
            <a:prstDash val="solid"/>
          </a:ln>
        </p:spPr>
      </p:sp>
      <p:sp>
        <p:nvSpPr>
          <p:cNvPr id="6" name="Text 4"/>
          <p:cNvSpPr txBox="1"/>
          <p:nvPr/>
        </p:nvSpPr>
        <p:spPr>
          <a:xfrm>
            <a:off x="1051560" y="2633472"/>
            <a:ext cx="4370832" cy="320040"/>
          </a:xfrm>
          <a:prstGeom prst="rect">
            <a:avLst/>
          </a:prstGeom>
          <a:noFill/>
          <a:ln/>
        </p:spPr>
        <p:txBody>
          <a:bodyPr wrap="square" lIns="0" tIns="0" rIns="0" bIns="0" rtlCol="0" anchor="ctr"/>
          <a:lstStyle/>
          <a:p>
            <a:pPr indent="0" marL="0">
              <a:buNone/>
            </a:pPr>
            <a:r>
              <a:rPr lang="en-US" sz="1300" b="1" spc="140" kern="0" dirty="0">
                <a:solidFill>
                  <a:srgbClr val="8A9995"/>
                </a:solidFill>
                <a:latin typeface="Calibri" pitchFamily="34" charset="0"/>
                <a:ea typeface="Calibri" pitchFamily="34" charset="-122"/>
                <a:cs typeface="Calibri" pitchFamily="34" charset="-120"/>
              </a:rPr>
              <a:t>Before</a:t>
            </a:r>
            <a:endParaRPr lang="en-US" sz="1300" dirty="0"/>
          </a:p>
        </p:txBody>
      </p:sp>
      <p:sp>
        <p:nvSpPr>
          <p:cNvPr id="7" name="Text 5"/>
          <p:cNvSpPr txBox="1"/>
          <p:nvPr/>
        </p:nvSpPr>
        <p:spPr>
          <a:xfrm>
            <a:off x="1051560" y="3063240"/>
            <a:ext cx="1920240" cy="640080"/>
          </a:xfrm>
          <a:prstGeom prst="rect">
            <a:avLst/>
          </a:prstGeom>
          <a:noFill/>
          <a:ln/>
        </p:spPr>
        <p:txBody>
          <a:bodyPr wrap="square" lIns="0" tIns="0" rIns="0" bIns="0" rtlCol="0" anchor="ctr"/>
          <a:lstStyle/>
          <a:p>
            <a:pPr indent="0" marL="0">
              <a:buNone/>
            </a:pPr>
            <a:r>
              <a:rPr lang="en-US" sz="3400" b="1" dirty="0">
                <a:solidFill>
                  <a:srgbClr val="8A9995"/>
                </a:solidFill>
                <a:latin typeface="Arial" pitchFamily="34" charset="0"/>
                <a:ea typeface="Arial" pitchFamily="34" charset="-122"/>
                <a:cs typeface="Arial" pitchFamily="34" charset="-120"/>
              </a:rPr>
              <a:t>7 / 10</a:t>
            </a:r>
            <a:endParaRPr lang="en-US" sz="3400" dirty="0"/>
          </a:p>
        </p:txBody>
      </p:sp>
      <p:sp>
        <p:nvSpPr>
          <p:cNvPr id="8" name="Text 6"/>
          <p:cNvSpPr txBox="1"/>
          <p:nvPr/>
        </p:nvSpPr>
        <p:spPr>
          <a:xfrm>
            <a:off x="3154680" y="3063240"/>
            <a:ext cx="1920240" cy="640080"/>
          </a:xfrm>
          <a:prstGeom prst="rect">
            <a:avLst/>
          </a:prstGeom>
          <a:noFill/>
          <a:ln/>
        </p:spPr>
        <p:txBody>
          <a:bodyPr wrap="square" lIns="0" tIns="0" rIns="0" bIns="0" rtlCol="0" anchor="ctr"/>
          <a:lstStyle/>
          <a:p>
            <a:pPr indent="0" marL="0">
              <a:buNone/>
            </a:pPr>
            <a:r>
              <a:rPr lang="en-US" sz="3400" b="1" dirty="0">
                <a:solidFill>
                  <a:srgbClr val="C4603F"/>
                </a:solidFill>
                <a:latin typeface="Arial" pitchFamily="34" charset="0"/>
                <a:ea typeface="Arial" pitchFamily="34" charset="-122"/>
                <a:cs typeface="Arial" pitchFamily="34" charset="-120"/>
              </a:rPr>
              <a:t>4 / 10</a:t>
            </a:r>
            <a:endParaRPr lang="en-US" sz="3400" dirty="0"/>
          </a:p>
        </p:txBody>
      </p:sp>
      <p:sp>
        <p:nvSpPr>
          <p:cNvPr id="9" name="Text 7"/>
          <p:cNvSpPr txBox="1"/>
          <p:nvPr/>
        </p:nvSpPr>
        <p:spPr>
          <a:xfrm>
            <a:off x="1051560" y="3675888"/>
            <a:ext cx="1920240" cy="274320"/>
          </a:xfrm>
          <a:prstGeom prst="rect">
            <a:avLst/>
          </a:prstGeom>
          <a:noFill/>
          <a:ln/>
        </p:spPr>
        <p:txBody>
          <a:bodyPr wrap="square" lIns="0" tIns="0" rIns="0" bIns="0" rtlCol="0" anchor="ctr"/>
          <a:lstStyle/>
          <a:p>
            <a:pPr indent="0" marL="0">
              <a:buNone/>
            </a:pPr>
            <a:r>
              <a:rPr lang="en-US" sz="1150" dirty="0">
                <a:solidFill>
                  <a:srgbClr val="63726E"/>
                </a:solidFill>
                <a:latin typeface="Calibri" pitchFamily="34" charset="0"/>
                <a:ea typeface="Calibri" pitchFamily="34" charset="-122"/>
                <a:cs typeface="Calibri" pitchFamily="34" charset="-120"/>
              </a:rPr>
              <a:t>plain answer</a:t>
            </a:r>
            <a:endParaRPr lang="en-US" sz="1150" dirty="0"/>
          </a:p>
        </p:txBody>
      </p:sp>
      <p:sp>
        <p:nvSpPr>
          <p:cNvPr id="10" name="Text 8"/>
          <p:cNvSpPr txBox="1"/>
          <p:nvPr/>
        </p:nvSpPr>
        <p:spPr>
          <a:xfrm>
            <a:off x="3154680" y="3675888"/>
            <a:ext cx="1920240" cy="274320"/>
          </a:xfrm>
          <a:prstGeom prst="rect">
            <a:avLst/>
          </a:prstGeom>
          <a:noFill/>
          <a:ln/>
        </p:spPr>
        <p:txBody>
          <a:bodyPr wrap="square" lIns="0" tIns="0" rIns="0" bIns="0" rtlCol="0" anchor="ctr"/>
          <a:lstStyle/>
          <a:p>
            <a:pPr indent="0" marL="0">
              <a:buNone/>
            </a:pPr>
            <a:r>
              <a:rPr lang="en-US" sz="1150" dirty="0">
                <a:solidFill>
                  <a:srgbClr val="63726E"/>
                </a:solidFill>
                <a:latin typeface="Calibri" pitchFamily="34" charset="0"/>
                <a:ea typeface="Calibri" pitchFamily="34" charset="-122"/>
                <a:cs typeface="Calibri" pitchFamily="34" charset="-120"/>
              </a:rPr>
              <a:t>with “um” left in</a:t>
            </a:r>
            <a:endParaRPr lang="en-US" sz="1150" dirty="0"/>
          </a:p>
        </p:txBody>
      </p:sp>
      <p:sp>
        <p:nvSpPr>
          <p:cNvPr id="11" name="Text 9"/>
          <p:cNvSpPr txBox="1"/>
          <p:nvPr/>
        </p:nvSpPr>
        <p:spPr>
          <a:xfrm>
            <a:off x="1051560" y="4041648"/>
            <a:ext cx="4370832" cy="566928"/>
          </a:xfrm>
          <a:prstGeom prst="rect">
            <a:avLst/>
          </a:prstGeom>
          <a:noFill/>
          <a:ln/>
        </p:spPr>
        <p:txBody>
          <a:bodyPr wrap="square" lIns="0" tIns="0" rIns="0" bIns="0" rtlCol="0" anchor="ctr"/>
          <a:lstStyle/>
          <a:p>
            <a:pPr indent="0" marL="0">
              <a:buNone/>
            </a:pPr>
            <a:r>
              <a:rPr lang="en-US" sz="1350" dirty="0">
                <a:solidFill>
                  <a:srgbClr val="63726E"/>
                </a:solidFill>
                <a:latin typeface="Calibri" pitchFamily="34" charset="0"/>
                <a:ea typeface="Calibri" pitchFamily="34" charset="-122"/>
                <a:cs typeface="Calibri" pitchFamily="34" charset="-120"/>
              </a:rPr>
              <a:t>Identical facts. Three points lost for sounding nervous.</a:t>
            </a:r>
            <a:endParaRPr lang="en-US" sz="1350" dirty="0"/>
          </a:p>
        </p:txBody>
      </p:sp>
      <p:sp>
        <p:nvSpPr>
          <p:cNvPr id="12" name="Shape 10"/>
          <p:cNvSpPr/>
          <p:nvPr/>
        </p:nvSpPr>
        <p:spPr>
          <a:xfrm>
            <a:off x="6355080" y="2423160"/>
            <a:ext cx="5193792" cy="2377440"/>
          </a:xfrm>
          <a:prstGeom prst="roundRect">
            <a:avLst>
              <a:gd name="adj" fmla="val 3846"/>
            </a:avLst>
          </a:prstGeom>
          <a:solidFill>
            <a:srgbClr val="13322D"/>
          </a:solidFill>
          <a:ln w="12700">
            <a:solidFill>
              <a:srgbClr val="1D554C"/>
            </a:solidFill>
            <a:prstDash val="solid"/>
          </a:ln>
        </p:spPr>
      </p:sp>
      <p:sp>
        <p:nvSpPr>
          <p:cNvPr id="13" name="Text 11"/>
          <p:cNvSpPr txBox="1"/>
          <p:nvPr/>
        </p:nvSpPr>
        <p:spPr>
          <a:xfrm>
            <a:off x="6766560" y="2633472"/>
            <a:ext cx="4370832" cy="320040"/>
          </a:xfrm>
          <a:prstGeom prst="rect">
            <a:avLst/>
          </a:prstGeom>
          <a:noFill/>
          <a:ln/>
        </p:spPr>
        <p:txBody>
          <a:bodyPr wrap="square" lIns="0" tIns="0" rIns="0" bIns="0" rtlCol="0" anchor="ctr"/>
          <a:lstStyle/>
          <a:p>
            <a:pPr indent="0" marL="0">
              <a:buNone/>
            </a:pPr>
            <a:r>
              <a:rPr lang="en-US" sz="1300" b="1" spc="140" kern="0" dirty="0">
                <a:solidFill>
                  <a:srgbClr val="2DD4BF"/>
                </a:solidFill>
                <a:latin typeface="Calibri" pitchFamily="34" charset="0"/>
                <a:ea typeface="Calibri" pitchFamily="34" charset="-122"/>
                <a:cs typeface="Calibri" pitchFamily="34" charset="-120"/>
              </a:rPr>
              <a:t>After the fix</a:t>
            </a:r>
            <a:endParaRPr lang="en-US" sz="1300" dirty="0"/>
          </a:p>
        </p:txBody>
      </p:sp>
      <p:sp>
        <p:nvSpPr>
          <p:cNvPr id="14" name="Text 12"/>
          <p:cNvSpPr txBox="1"/>
          <p:nvPr/>
        </p:nvSpPr>
        <p:spPr>
          <a:xfrm>
            <a:off x="6766560" y="3063240"/>
            <a:ext cx="1920240" cy="640080"/>
          </a:xfrm>
          <a:prstGeom prst="rect">
            <a:avLst/>
          </a:prstGeom>
          <a:noFill/>
          <a:ln/>
        </p:spPr>
        <p:txBody>
          <a:bodyPr wrap="square" lIns="0" tIns="0" rIns="0" bIns="0" rtlCol="0" anchor="ctr"/>
          <a:lstStyle/>
          <a:p>
            <a:pPr indent="0" marL="0">
              <a:buNone/>
            </a:pPr>
            <a:r>
              <a:rPr lang="en-US" sz="3400" b="1" dirty="0">
                <a:solidFill>
                  <a:srgbClr val="2DD4BF"/>
                </a:solidFill>
                <a:latin typeface="Arial" pitchFamily="34" charset="0"/>
                <a:ea typeface="Arial" pitchFamily="34" charset="-122"/>
                <a:cs typeface="Arial" pitchFamily="34" charset="-120"/>
              </a:rPr>
              <a:t>7 / 10</a:t>
            </a:r>
            <a:endParaRPr lang="en-US" sz="3400" dirty="0"/>
          </a:p>
        </p:txBody>
      </p:sp>
      <p:sp>
        <p:nvSpPr>
          <p:cNvPr id="15" name="Text 13"/>
          <p:cNvSpPr txBox="1"/>
          <p:nvPr/>
        </p:nvSpPr>
        <p:spPr>
          <a:xfrm>
            <a:off x="8869680" y="3063240"/>
            <a:ext cx="1920240" cy="640080"/>
          </a:xfrm>
          <a:prstGeom prst="rect">
            <a:avLst/>
          </a:prstGeom>
          <a:noFill/>
          <a:ln/>
        </p:spPr>
        <p:txBody>
          <a:bodyPr wrap="square" lIns="0" tIns="0" rIns="0" bIns="0" rtlCol="0" anchor="ctr"/>
          <a:lstStyle/>
          <a:p>
            <a:pPr indent="0" marL="0">
              <a:buNone/>
            </a:pPr>
            <a:r>
              <a:rPr lang="en-US" sz="3400" b="1" dirty="0">
                <a:solidFill>
                  <a:srgbClr val="2DD4BF"/>
                </a:solidFill>
                <a:latin typeface="Arial" pitchFamily="34" charset="0"/>
                <a:ea typeface="Arial" pitchFamily="34" charset="-122"/>
                <a:cs typeface="Arial" pitchFamily="34" charset="-120"/>
              </a:rPr>
              <a:t>7 / 10</a:t>
            </a:r>
            <a:endParaRPr lang="en-US" sz="3400" dirty="0"/>
          </a:p>
        </p:txBody>
      </p:sp>
      <p:sp>
        <p:nvSpPr>
          <p:cNvPr id="16" name="Text 14"/>
          <p:cNvSpPr txBox="1"/>
          <p:nvPr/>
        </p:nvSpPr>
        <p:spPr>
          <a:xfrm>
            <a:off x="6766560" y="3675888"/>
            <a:ext cx="1920240" cy="274320"/>
          </a:xfrm>
          <a:prstGeom prst="rect">
            <a:avLst/>
          </a:prstGeom>
          <a:noFill/>
          <a:ln/>
        </p:spPr>
        <p:txBody>
          <a:bodyPr wrap="square" lIns="0" tIns="0" rIns="0" bIns="0" rtlCol="0" anchor="ctr"/>
          <a:lstStyle/>
          <a:p>
            <a:pPr indent="0" marL="0">
              <a:buNone/>
            </a:pPr>
            <a:r>
              <a:rPr lang="en-US" sz="1150" dirty="0">
                <a:solidFill>
                  <a:srgbClr val="63726E"/>
                </a:solidFill>
                <a:latin typeface="Calibri" pitchFamily="34" charset="0"/>
                <a:ea typeface="Calibri" pitchFamily="34" charset="-122"/>
                <a:cs typeface="Calibri" pitchFamily="34" charset="-120"/>
              </a:rPr>
              <a:t>plain answer</a:t>
            </a:r>
            <a:endParaRPr lang="en-US" sz="1150" dirty="0"/>
          </a:p>
        </p:txBody>
      </p:sp>
      <p:sp>
        <p:nvSpPr>
          <p:cNvPr id="17" name="Text 15"/>
          <p:cNvSpPr txBox="1"/>
          <p:nvPr/>
        </p:nvSpPr>
        <p:spPr>
          <a:xfrm>
            <a:off x="8869680" y="3675888"/>
            <a:ext cx="1920240" cy="274320"/>
          </a:xfrm>
          <a:prstGeom prst="rect">
            <a:avLst/>
          </a:prstGeom>
          <a:noFill/>
          <a:ln/>
        </p:spPr>
        <p:txBody>
          <a:bodyPr wrap="square" lIns="0" tIns="0" rIns="0" bIns="0" rtlCol="0" anchor="ctr"/>
          <a:lstStyle/>
          <a:p>
            <a:pPr indent="0" marL="0">
              <a:buNone/>
            </a:pPr>
            <a:r>
              <a:rPr lang="en-US" sz="1150" dirty="0">
                <a:solidFill>
                  <a:srgbClr val="63726E"/>
                </a:solidFill>
                <a:latin typeface="Calibri" pitchFamily="34" charset="0"/>
                <a:ea typeface="Calibri" pitchFamily="34" charset="-122"/>
                <a:cs typeface="Calibri" pitchFamily="34" charset="-120"/>
              </a:rPr>
              <a:t>with “um” left in</a:t>
            </a:r>
            <a:endParaRPr lang="en-US" sz="1150" dirty="0"/>
          </a:p>
        </p:txBody>
      </p:sp>
      <p:sp>
        <p:nvSpPr>
          <p:cNvPr id="18" name="Text 16"/>
          <p:cNvSpPr txBox="1"/>
          <p:nvPr/>
        </p:nvSpPr>
        <p:spPr>
          <a:xfrm>
            <a:off x="6766560" y="4041648"/>
            <a:ext cx="4370832" cy="566928"/>
          </a:xfrm>
          <a:prstGeom prst="rect">
            <a:avLst/>
          </a:prstGeom>
          <a:noFill/>
          <a:ln/>
        </p:spPr>
        <p:txBody>
          <a:bodyPr wrap="square" lIns="0" tIns="0" rIns="0" bIns="0" rtlCol="0" anchor="ctr"/>
          <a:lstStyle/>
          <a:p>
            <a:pPr indent="0" marL="0">
              <a:buNone/>
            </a:pPr>
            <a:r>
              <a:rPr lang="en-US" sz="1350" dirty="0">
                <a:solidFill>
                  <a:srgbClr val="E6EDEB"/>
                </a:solidFill>
                <a:latin typeface="Calibri" pitchFamily="34" charset="0"/>
                <a:ea typeface="Calibri" pitchFamily="34" charset="-122"/>
                <a:cs typeface="Calibri" pitchFamily="34" charset="-120"/>
              </a:rPr>
              <a:t>Filler is removed before anything is judged.</a:t>
            </a:r>
            <a:endParaRPr lang="en-US" sz="1350" dirty="0"/>
          </a:p>
        </p:txBody>
      </p:sp>
      <p:sp>
        <p:nvSpPr>
          <p:cNvPr id="19" name="Text 17"/>
          <p:cNvSpPr txBox="1"/>
          <p:nvPr/>
        </p:nvSpPr>
        <p:spPr>
          <a:xfrm>
            <a:off x="640080" y="5212080"/>
            <a:ext cx="10908792"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Nervousness and a second language are not weaknesses.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WHERE IT RUNS</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audio never leaves your office.</a:t>
            </a:r>
            <a:endParaRPr lang="en-US" sz="3600" dirty="0"/>
          </a:p>
        </p:txBody>
      </p:sp>
      <p:sp>
        <p:nvSpPr>
          <p:cNvPr id="4" name="Shape 2"/>
          <p:cNvSpPr/>
          <p:nvPr/>
        </p:nvSpPr>
        <p:spPr>
          <a:xfrm>
            <a:off x="640080" y="2240280"/>
            <a:ext cx="3200400" cy="1737360"/>
          </a:xfrm>
          <a:prstGeom prst="roundRect">
            <a:avLst>
              <a:gd name="adj" fmla="val 5263"/>
            </a:avLst>
          </a:prstGeom>
          <a:solidFill>
            <a:srgbClr val="152220"/>
          </a:solidFill>
          <a:ln w="12700">
            <a:solidFill>
              <a:srgbClr val="273733"/>
            </a:solidFill>
            <a:prstDash val="solid"/>
          </a:ln>
        </p:spPr>
      </p:sp>
      <p:sp>
        <p:nvSpPr>
          <p:cNvPr id="5" name="Shape 3"/>
          <p:cNvSpPr/>
          <p:nvPr/>
        </p:nvSpPr>
        <p:spPr>
          <a:xfrm>
            <a:off x="1005840" y="2514600"/>
            <a:ext cx="548640" cy="548640"/>
          </a:xfrm>
          <a:prstGeom prst="ellipse">
            <a:avLst/>
          </a:prstGeom>
          <a:solidFill>
            <a:srgbClr val="1E2523"/>
          </a:solidFill>
          <a:ln w="12700">
            <a:solidFill>
              <a:srgbClr val="1F4B44"/>
            </a:solidFill>
            <a:prstDash val="solid"/>
          </a:ln>
        </p:spPr>
      </p:sp>
      <p:pic>
        <p:nvPicPr>
          <p:cNvPr id="6" name="Image 0" descr="icons/monitor.png">    </p:cNvPr>
          <p:cNvPicPr>
            <a:picLocks noChangeAspect="1"/>
          </p:cNvPicPr>
          <p:nvPr/>
        </p:nvPicPr>
        <p:blipFill>
          <a:blip r:embed="rId1"/>
          <a:stretch>
            <a:fillRect/>
          </a:stretch>
        </p:blipFill>
        <p:spPr>
          <a:xfrm>
            <a:off x="1148486" y="2657246"/>
            <a:ext cx="263347" cy="263347"/>
          </a:xfrm>
          <a:prstGeom prst="rect">
            <a:avLst/>
          </a:prstGeom>
        </p:spPr>
      </p:pic>
      <p:sp>
        <p:nvSpPr>
          <p:cNvPr id="7" name="Text 4"/>
          <p:cNvSpPr txBox="1"/>
          <p:nvPr/>
        </p:nvSpPr>
        <p:spPr>
          <a:xfrm>
            <a:off x="1005840" y="3200400"/>
            <a:ext cx="2560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Candidate's browser</a:t>
            </a:r>
            <a:endParaRPr lang="en-US" sz="1500" dirty="0"/>
          </a:p>
        </p:txBody>
      </p:sp>
      <p:sp>
        <p:nvSpPr>
          <p:cNvPr id="8" name="Text 5"/>
          <p:cNvSpPr txBox="1"/>
          <p:nvPr/>
        </p:nvSpPr>
        <p:spPr>
          <a:xfrm>
            <a:off x="1005840" y="3520440"/>
            <a:ext cx="2560320" cy="274320"/>
          </a:xfrm>
          <a:prstGeom prst="rect">
            <a:avLst/>
          </a:prstGeom>
          <a:noFill/>
          <a:ln/>
        </p:spPr>
        <p:txBody>
          <a:bodyPr wrap="square" lIns="0" tIns="0" rIns="0" bIns="0" rtlCol="0" anchor="ctr"/>
          <a:lstStyle/>
          <a:p>
            <a:pPr indent="0" marL="0">
              <a:buNone/>
            </a:pPr>
            <a:r>
              <a:rPr lang="en-US" sz="1250" dirty="0">
                <a:solidFill>
                  <a:srgbClr val="8A9995"/>
                </a:solidFill>
                <a:latin typeface="Calibri" pitchFamily="34" charset="0"/>
                <a:ea typeface="Calibri" pitchFamily="34" charset="-122"/>
                <a:cs typeface="Calibri" pitchFamily="34" charset="-120"/>
              </a:rPr>
              <a:t>A link and a microphone.</a:t>
            </a:r>
            <a:endParaRPr lang="en-US" sz="1250" dirty="0"/>
          </a:p>
        </p:txBody>
      </p:sp>
      <p:sp>
        <p:nvSpPr>
          <p:cNvPr id="9" name="Text 6"/>
          <p:cNvSpPr txBox="1"/>
          <p:nvPr/>
        </p:nvSpPr>
        <p:spPr>
          <a:xfrm>
            <a:off x="3950208" y="2788920"/>
            <a:ext cx="822960" cy="548640"/>
          </a:xfrm>
          <a:prstGeom prst="rect">
            <a:avLst/>
          </a:prstGeom>
          <a:noFill/>
          <a:ln/>
        </p:spPr>
        <p:txBody>
          <a:bodyPr wrap="square" lIns="0" tIns="0" rIns="0" bIns="0" rtlCol="0" anchor="ctr"/>
          <a:lstStyle/>
          <a:p>
            <a:pPr algn="ctr" indent="0" marL="0">
              <a:buNone/>
            </a:pPr>
            <a:r>
              <a:rPr lang="en-US" sz="3000" dirty="0">
                <a:solidFill>
                  <a:srgbClr val="2DD4BF"/>
                </a:solidFill>
                <a:latin typeface="Arial" pitchFamily="34" charset="0"/>
                <a:ea typeface="Arial" pitchFamily="34" charset="-122"/>
                <a:cs typeface="Arial" pitchFamily="34" charset="-120"/>
              </a:rPr>
              <a:t>→</a:t>
            </a:r>
            <a:endParaRPr lang="en-US" sz="3000" dirty="0"/>
          </a:p>
        </p:txBody>
      </p:sp>
      <p:sp>
        <p:nvSpPr>
          <p:cNvPr id="10" name="Shape 7"/>
          <p:cNvSpPr/>
          <p:nvPr/>
        </p:nvSpPr>
        <p:spPr>
          <a:xfrm>
            <a:off x="4800600" y="2240280"/>
            <a:ext cx="6748272" cy="1737360"/>
          </a:xfrm>
          <a:prstGeom prst="roundRect">
            <a:avLst>
              <a:gd name="adj" fmla="val 5263"/>
            </a:avLst>
          </a:prstGeom>
          <a:solidFill>
            <a:srgbClr val="13322D"/>
          </a:solidFill>
          <a:ln w="12700">
            <a:solidFill>
              <a:srgbClr val="1D554C"/>
            </a:solidFill>
            <a:prstDash val="solid"/>
          </a:ln>
        </p:spPr>
      </p:sp>
      <p:sp>
        <p:nvSpPr>
          <p:cNvPr id="11" name="Shape 8"/>
          <p:cNvSpPr/>
          <p:nvPr/>
        </p:nvSpPr>
        <p:spPr>
          <a:xfrm>
            <a:off x="5166360" y="2514600"/>
            <a:ext cx="548640" cy="548640"/>
          </a:xfrm>
          <a:prstGeom prst="ellipse">
            <a:avLst/>
          </a:prstGeom>
          <a:solidFill>
            <a:srgbClr val="16302B"/>
          </a:solidFill>
          <a:ln w="12700">
            <a:solidFill>
              <a:srgbClr val="1F4B44"/>
            </a:solidFill>
            <a:prstDash val="solid"/>
          </a:ln>
        </p:spPr>
      </p:sp>
      <p:pic>
        <p:nvPicPr>
          <p:cNvPr id="12" name="Image 1" descr="icons/server.png">    </p:cNvPr>
          <p:cNvPicPr>
            <a:picLocks noChangeAspect="1"/>
          </p:cNvPicPr>
          <p:nvPr/>
        </p:nvPicPr>
        <p:blipFill>
          <a:blip r:embed="rId2"/>
          <a:stretch>
            <a:fillRect/>
          </a:stretch>
        </p:blipFill>
        <p:spPr>
          <a:xfrm>
            <a:off x="5309006" y="2657246"/>
            <a:ext cx="263347" cy="263347"/>
          </a:xfrm>
          <a:prstGeom prst="rect">
            <a:avLst/>
          </a:prstGeom>
        </p:spPr>
      </p:pic>
      <p:sp>
        <p:nvSpPr>
          <p:cNvPr id="13" name="Text 9"/>
          <p:cNvSpPr txBox="1"/>
          <p:nvPr/>
        </p:nvSpPr>
        <p:spPr>
          <a:xfrm>
            <a:off x="5166360" y="3200400"/>
            <a:ext cx="603504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One machine, in your building</a:t>
            </a:r>
            <a:endParaRPr lang="en-US" sz="1500" dirty="0"/>
          </a:p>
        </p:txBody>
      </p:sp>
      <p:sp>
        <p:nvSpPr>
          <p:cNvPr id="14" name="Text 10"/>
          <p:cNvSpPr txBox="1"/>
          <p:nvPr/>
        </p:nvSpPr>
        <p:spPr>
          <a:xfrm>
            <a:off x="5166360" y="3520440"/>
            <a:ext cx="6035040" cy="274320"/>
          </a:xfrm>
          <a:prstGeom prst="rect">
            <a:avLst/>
          </a:prstGeom>
          <a:noFill/>
          <a:ln/>
        </p:spPr>
        <p:txBody>
          <a:bodyPr wrap="square" lIns="0" tIns="0" rIns="0" bIns="0" rtlCol="0" anchor="ctr"/>
          <a:lstStyle/>
          <a:p>
            <a:pPr indent="0" marL="0">
              <a:buNone/>
            </a:pPr>
            <a:r>
              <a:rPr lang="en-US" sz="1250" dirty="0">
                <a:solidFill>
                  <a:srgbClr val="E6EDEB"/>
                </a:solidFill>
                <a:latin typeface="Calibri" pitchFamily="34" charset="0"/>
                <a:ea typeface="Calibri" pitchFamily="34" charset="-122"/>
                <a:cs typeface="Calibri" pitchFamily="34" charset="-120"/>
              </a:rPr>
              <a:t>The voice, the questions, the transcript, the score. All of it, here.</a:t>
            </a:r>
            <a:endParaRPr lang="en-US" sz="1250" dirty="0"/>
          </a:p>
        </p:txBody>
      </p:sp>
      <p:sp>
        <p:nvSpPr>
          <p:cNvPr id="15" name="Shape 11"/>
          <p:cNvSpPr/>
          <p:nvPr/>
        </p:nvSpPr>
        <p:spPr>
          <a:xfrm>
            <a:off x="640080" y="4251960"/>
            <a:ext cx="10908792" cy="914400"/>
          </a:xfrm>
          <a:prstGeom prst="roundRect">
            <a:avLst>
              <a:gd name="adj" fmla="val 10000"/>
            </a:avLst>
          </a:prstGeom>
          <a:solidFill>
            <a:srgbClr val="10201D"/>
          </a:solidFill>
          <a:ln w="12700">
            <a:solidFill>
              <a:srgbClr val="273733"/>
            </a:solidFill>
            <a:prstDash val="solid"/>
          </a:ln>
        </p:spPr>
      </p:sp>
      <p:sp>
        <p:nvSpPr>
          <p:cNvPr id="16" name="Shape 12"/>
          <p:cNvSpPr/>
          <p:nvPr/>
        </p:nvSpPr>
        <p:spPr>
          <a:xfrm>
            <a:off x="1005840" y="4434840"/>
            <a:ext cx="548640" cy="548640"/>
          </a:xfrm>
          <a:prstGeom prst="ellipse">
            <a:avLst/>
          </a:prstGeom>
          <a:solidFill>
            <a:srgbClr val="1E2523"/>
          </a:solidFill>
          <a:ln w="12700">
            <a:solidFill>
              <a:srgbClr val="1F4B44"/>
            </a:solidFill>
            <a:prstDash val="solid"/>
          </a:ln>
        </p:spPr>
      </p:sp>
      <p:pic>
        <p:nvPicPr>
          <p:cNvPr id="17" name="Image 2" descr="icons/cloud.png">    </p:cNvPr>
          <p:cNvPicPr>
            <a:picLocks noChangeAspect="1"/>
          </p:cNvPicPr>
          <p:nvPr/>
        </p:nvPicPr>
        <p:blipFill>
          <a:blip r:embed="rId3"/>
          <a:stretch>
            <a:fillRect/>
          </a:stretch>
        </p:blipFill>
        <p:spPr>
          <a:xfrm>
            <a:off x="1148486" y="4577486"/>
            <a:ext cx="263347" cy="263347"/>
          </a:xfrm>
          <a:prstGeom prst="rect">
            <a:avLst/>
          </a:prstGeom>
        </p:spPr>
      </p:pic>
      <p:sp>
        <p:nvSpPr>
          <p:cNvPr id="18" name="Text 13"/>
          <p:cNvSpPr txBox="1"/>
          <p:nvPr/>
        </p:nvSpPr>
        <p:spPr>
          <a:xfrm>
            <a:off x="1810512" y="4572000"/>
            <a:ext cx="9509760" cy="365760"/>
          </a:xfrm>
          <a:prstGeom prst="rect">
            <a:avLst/>
          </a:prstGeom>
          <a:noFill/>
          <a:ln/>
        </p:spPr>
        <p:txBody>
          <a:bodyPr wrap="square" lIns="0" tIns="0" rIns="0" bIns="0" rtlCol="0" anchor="ctr"/>
          <a:lstStyle/>
          <a:p>
            <a:pPr indent="0" marL="0">
              <a:buNone/>
            </a:pPr>
            <a:r>
              <a:rPr lang="en-US" sz="1700" dirty="0">
                <a:solidFill>
                  <a:srgbClr val="8A9995"/>
                </a:solidFill>
                <a:latin typeface="Arial" pitchFamily="34" charset="0"/>
                <a:ea typeface="Arial" pitchFamily="34" charset="-122"/>
                <a:cs typeface="Arial" pitchFamily="34" charset="-120"/>
              </a:rPr>
              <a:t>No cloud service. No transcription vendor. Nobody else hears it.</a:t>
            </a:r>
            <a:endParaRPr lang="en-US" sz="1700" dirty="0"/>
          </a:p>
        </p:txBody>
      </p:sp>
      <p:sp>
        <p:nvSpPr>
          <p:cNvPr id="19" name="Text 14"/>
          <p:cNvSpPr txBox="1"/>
          <p:nvPr/>
        </p:nvSpPr>
        <p:spPr>
          <a:xfrm>
            <a:off x="640080" y="5577840"/>
            <a:ext cx="10908792" cy="457200"/>
          </a:xfrm>
          <a:prstGeom prst="rect">
            <a:avLst/>
          </a:prstGeom>
          <a:noFill/>
          <a:ln/>
        </p:spPr>
        <p:txBody>
          <a:bodyPr wrap="square" lIns="0" tIns="0" rIns="0" bIns="0" rtlCol="0" anchor="ctr"/>
          <a:lstStyle/>
          <a:p>
            <a:pPr indent="0" marL="0">
              <a:buNone/>
            </a:pPr>
            <a:r>
              <a:rPr lang="en-US" sz="2000" dirty="0">
                <a:solidFill>
                  <a:srgbClr val="2DD4BF"/>
                </a:solidFill>
                <a:latin typeface="Arial" pitchFamily="34" charset="0"/>
                <a:ea typeface="Arial" pitchFamily="34" charset="-122"/>
                <a:cs typeface="Arial" pitchFamily="34" charset="-120"/>
              </a:rPr>
              <a:t>Nothing to add to a contract. Nothing to explain to your lawyer.</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COST</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Rent forever, or buy once.</a:t>
            </a:r>
            <a:endParaRPr lang="en-US" sz="3600" dirty="0"/>
          </a:p>
        </p:txBody>
      </p:sp>
      <p:graphicFrame>
        <p:nvGraphicFramePr>
          <p:cNvPr id="4" name="Chart 0" descr=""/>
          <p:cNvGraphicFramePr/>
          <p:nvPr/>
        </p:nvGraphicFramePr>
        <p:xfrm>
          <a:off x="640080" y="1783080"/>
          <a:ext cx="722376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56448" y="1783080"/>
            <a:ext cx="3392424" cy="1060704"/>
          </a:xfrm>
          <a:prstGeom prst="roundRect">
            <a:avLst>
              <a:gd name="adj" fmla="val 8621"/>
            </a:avLst>
          </a:prstGeom>
          <a:solidFill>
            <a:srgbClr val="152220"/>
          </a:solidFill>
          <a:ln w="12700">
            <a:solidFill>
              <a:srgbClr val="273733"/>
            </a:solidFill>
            <a:prstDash val="solid"/>
          </a:ln>
        </p:spPr>
      </p:sp>
      <p:sp>
        <p:nvSpPr>
          <p:cNvPr id="6" name="Text 3"/>
          <p:cNvSpPr txBox="1"/>
          <p:nvPr/>
        </p:nvSpPr>
        <p:spPr>
          <a:xfrm>
            <a:off x="8449056" y="1911096"/>
            <a:ext cx="2834640" cy="457200"/>
          </a:xfrm>
          <a:prstGeom prst="rect">
            <a:avLst/>
          </a:prstGeom>
          <a:noFill/>
          <a:ln/>
        </p:spPr>
        <p:txBody>
          <a:bodyPr wrap="square" lIns="0" tIns="0" rIns="0" bIns="0" rtlCol="0" anchor="ctr"/>
          <a:lstStyle/>
          <a:p>
            <a:pPr indent="0" marL="0">
              <a:buNone/>
            </a:pPr>
            <a:r>
              <a:rPr lang="en-US" sz="2400" b="1" dirty="0">
                <a:solidFill>
                  <a:srgbClr val="2DD4BF"/>
                </a:solidFill>
                <a:latin typeface="Arial" pitchFamily="34" charset="0"/>
                <a:ea typeface="Arial" pitchFamily="34" charset="-122"/>
                <a:cs typeface="Arial" pitchFamily="34" charset="-120"/>
              </a:rPr>
              <a:t>~$10</a:t>
            </a:r>
            <a:endParaRPr lang="en-US" sz="2400" dirty="0"/>
          </a:p>
        </p:txBody>
      </p:sp>
      <p:sp>
        <p:nvSpPr>
          <p:cNvPr id="7" name="Text 4"/>
          <p:cNvSpPr txBox="1"/>
          <p:nvPr/>
        </p:nvSpPr>
        <p:spPr>
          <a:xfrm>
            <a:off x="8449056" y="2359152"/>
            <a:ext cx="2834640" cy="411480"/>
          </a:xfrm>
          <a:prstGeom prst="rect">
            <a:avLst/>
          </a:prstGeom>
          <a:noFill/>
          <a:ln/>
        </p:spPr>
        <p:txBody>
          <a:bodyPr wrap="square" lIns="0" tIns="0" rIns="0" bIns="0" rtlCol="0" anchor="ctr"/>
          <a:lstStyle/>
          <a:p>
            <a:pPr indent="0" marL="0">
              <a:buNone/>
            </a:pPr>
            <a:r>
              <a:rPr lang="en-US" sz="1200" dirty="0">
                <a:solidFill>
                  <a:srgbClr val="8A9995"/>
                </a:solidFill>
                <a:latin typeface="Calibri" pitchFamily="34" charset="0"/>
                <a:ea typeface="Calibri" pitchFamily="34" charset="-122"/>
                <a:cs typeface="Calibri" pitchFamily="34" charset="-120"/>
              </a:rPr>
              <a:t>what one hosted interview costs. Every time.</a:t>
            </a:r>
            <a:endParaRPr lang="en-US" sz="1200" dirty="0"/>
          </a:p>
        </p:txBody>
      </p:sp>
      <p:sp>
        <p:nvSpPr>
          <p:cNvPr id="8" name="Shape 5"/>
          <p:cNvSpPr/>
          <p:nvPr/>
        </p:nvSpPr>
        <p:spPr>
          <a:xfrm>
            <a:off x="8156448" y="3026664"/>
            <a:ext cx="3392424" cy="1060704"/>
          </a:xfrm>
          <a:prstGeom prst="roundRect">
            <a:avLst>
              <a:gd name="adj" fmla="val 8621"/>
            </a:avLst>
          </a:prstGeom>
          <a:solidFill>
            <a:srgbClr val="152220"/>
          </a:solidFill>
          <a:ln w="12700">
            <a:solidFill>
              <a:srgbClr val="273733"/>
            </a:solidFill>
            <a:prstDash val="solid"/>
          </a:ln>
        </p:spPr>
      </p:sp>
      <p:sp>
        <p:nvSpPr>
          <p:cNvPr id="9" name="Text 6"/>
          <p:cNvSpPr txBox="1"/>
          <p:nvPr/>
        </p:nvSpPr>
        <p:spPr>
          <a:xfrm>
            <a:off x="8449056" y="3154680"/>
            <a:ext cx="2834640" cy="457200"/>
          </a:xfrm>
          <a:prstGeom prst="rect">
            <a:avLst/>
          </a:prstGeom>
          <a:noFill/>
          <a:ln/>
        </p:spPr>
        <p:txBody>
          <a:bodyPr wrap="square" lIns="0" tIns="0" rIns="0" bIns="0" rtlCol="0" anchor="ctr"/>
          <a:lstStyle/>
          <a:p>
            <a:pPr indent="0" marL="0">
              <a:buNone/>
            </a:pPr>
            <a:r>
              <a:rPr lang="en-US" sz="2400" b="1" dirty="0">
                <a:solidFill>
                  <a:srgbClr val="2DD4BF"/>
                </a:solidFill>
                <a:latin typeface="Arial" pitchFamily="34" charset="0"/>
                <a:ea typeface="Arial" pitchFamily="34" charset="-122"/>
                <a:cs typeface="Arial" pitchFamily="34" charset="-120"/>
              </a:rPr>
              <a:t>~$5,000</a:t>
            </a:r>
            <a:endParaRPr lang="en-US" sz="2400" dirty="0"/>
          </a:p>
        </p:txBody>
      </p:sp>
      <p:sp>
        <p:nvSpPr>
          <p:cNvPr id="10" name="Text 7"/>
          <p:cNvSpPr txBox="1"/>
          <p:nvPr/>
        </p:nvSpPr>
        <p:spPr>
          <a:xfrm>
            <a:off x="8449056" y="3602736"/>
            <a:ext cx="2834640" cy="411480"/>
          </a:xfrm>
          <a:prstGeom prst="rect">
            <a:avLst/>
          </a:prstGeom>
          <a:noFill/>
          <a:ln/>
        </p:spPr>
        <p:txBody>
          <a:bodyPr wrap="square" lIns="0" tIns="0" rIns="0" bIns="0" rtlCol="0" anchor="ctr"/>
          <a:lstStyle/>
          <a:p>
            <a:pPr indent="0" marL="0">
              <a:buNone/>
            </a:pPr>
            <a:r>
              <a:rPr lang="en-US" sz="1200" dirty="0">
                <a:solidFill>
                  <a:srgbClr val="8A9995"/>
                </a:solidFill>
                <a:latin typeface="Calibri" pitchFamily="34" charset="0"/>
                <a:ea typeface="Calibri" pitchFamily="34" charset="-122"/>
                <a:cs typeface="Calibri" pitchFamily="34" charset="-120"/>
              </a:rPr>
              <a:t>one machine, once. Still yours next year.</a:t>
            </a:r>
            <a:endParaRPr lang="en-US" sz="1200" dirty="0"/>
          </a:p>
        </p:txBody>
      </p:sp>
      <p:sp>
        <p:nvSpPr>
          <p:cNvPr id="11" name="Shape 8"/>
          <p:cNvSpPr/>
          <p:nvPr/>
        </p:nvSpPr>
        <p:spPr>
          <a:xfrm>
            <a:off x="8156448" y="4270248"/>
            <a:ext cx="3392424" cy="1060704"/>
          </a:xfrm>
          <a:prstGeom prst="roundRect">
            <a:avLst>
              <a:gd name="adj" fmla="val 8621"/>
            </a:avLst>
          </a:prstGeom>
          <a:solidFill>
            <a:srgbClr val="152220"/>
          </a:solidFill>
          <a:ln w="12700">
            <a:solidFill>
              <a:srgbClr val="273733"/>
            </a:solidFill>
            <a:prstDash val="solid"/>
          </a:ln>
        </p:spPr>
      </p:sp>
      <p:sp>
        <p:nvSpPr>
          <p:cNvPr id="12" name="Text 9"/>
          <p:cNvSpPr txBox="1"/>
          <p:nvPr/>
        </p:nvSpPr>
        <p:spPr>
          <a:xfrm>
            <a:off x="8449056" y="4398264"/>
            <a:ext cx="2834640" cy="457200"/>
          </a:xfrm>
          <a:prstGeom prst="rect">
            <a:avLst/>
          </a:prstGeom>
          <a:noFill/>
          <a:ln/>
        </p:spPr>
        <p:txBody>
          <a:bodyPr wrap="square" lIns="0" tIns="0" rIns="0" bIns="0" rtlCol="0" anchor="ctr"/>
          <a:lstStyle/>
          <a:p>
            <a:pPr indent="0" marL="0">
              <a:buNone/>
            </a:pPr>
            <a:r>
              <a:rPr lang="en-US" sz="2400" b="1" dirty="0">
                <a:solidFill>
                  <a:srgbClr val="2DD4BF"/>
                </a:solidFill>
                <a:latin typeface="Arial" pitchFamily="34" charset="0"/>
                <a:ea typeface="Arial" pitchFamily="34" charset="-122"/>
                <a:cs typeface="Arial" pitchFamily="34" charset="-120"/>
              </a:rPr>
              <a:t>500</a:t>
            </a:r>
            <a:endParaRPr lang="en-US" sz="2400" dirty="0"/>
          </a:p>
        </p:txBody>
      </p:sp>
      <p:sp>
        <p:nvSpPr>
          <p:cNvPr id="13" name="Text 10"/>
          <p:cNvSpPr txBox="1"/>
          <p:nvPr/>
        </p:nvSpPr>
        <p:spPr>
          <a:xfrm>
            <a:off x="8449056" y="4846320"/>
            <a:ext cx="2834640" cy="411480"/>
          </a:xfrm>
          <a:prstGeom prst="rect">
            <a:avLst/>
          </a:prstGeom>
          <a:noFill/>
          <a:ln/>
        </p:spPr>
        <p:txBody>
          <a:bodyPr wrap="square" lIns="0" tIns="0" rIns="0" bIns="0" rtlCol="0" anchor="ctr"/>
          <a:lstStyle/>
          <a:p>
            <a:pPr indent="0" marL="0">
              <a:buNone/>
            </a:pPr>
            <a:r>
              <a:rPr lang="en-US" sz="1200" dirty="0">
                <a:solidFill>
                  <a:srgbClr val="8A9995"/>
                </a:solidFill>
                <a:latin typeface="Calibri" pitchFamily="34" charset="0"/>
                <a:ea typeface="Calibri" pitchFamily="34" charset="-122"/>
                <a:cs typeface="Calibri" pitchFamily="34" charset="-120"/>
              </a:rPr>
              <a:t>interviews to break even. Then it is electricity.</a:t>
            </a:r>
            <a:endParaRPr lang="en-US" sz="1200" dirty="0"/>
          </a:p>
        </p:txBody>
      </p:sp>
      <p:sp>
        <p:nvSpPr>
          <p:cNvPr id="14" name="Text 11"/>
          <p:cNvSpPr txBox="1"/>
          <p:nvPr/>
        </p:nvSpPr>
        <p:spPr>
          <a:xfrm>
            <a:off x="640080" y="5715000"/>
            <a:ext cx="10908792" cy="457200"/>
          </a:xfrm>
          <a:prstGeom prst="rect">
            <a:avLst/>
          </a:prstGeom>
          <a:noFill/>
          <a:ln/>
        </p:spPr>
        <p:txBody>
          <a:bodyPr wrap="square" lIns="0" tIns="0" rIns="0" bIns="0" rtlCol="0" anchor="ctr"/>
          <a:lstStyle/>
          <a:p>
            <a:pPr indent="0" marL="0">
              <a:buNone/>
            </a:pPr>
            <a:r>
              <a:rPr lang="en-US" sz="1250" dirty="0">
                <a:solidFill>
                  <a:srgbClr val="8A9995"/>
                </a:solidFill>
                <a:latin typeface="Calibri" pitchFamily="34" charset="0"/>
                <a:ea typeface="Calibri" pitchFamily="34" charset="-122"/>
                <a:cs typeface="Calibri" pitchFamily="34" charset="-120"/>
              </a:rPr>
              <a:t>Our own estimate, not a quote from anyone. Put your numbers in; the shape does not change.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LIVE</a:t>
            </a:r>
            <a:endParaRPr lang="en-US" sz="1150" dirty="0"/>
          </a:p>
        </p:txBody>
      </p:sp>
      <p:sp>
        <p:nvSpPr>
          <p:cNvPr id="3" name="Text 1"/>
          <p:cNvSpPr txBox="1"/>
          <p:nvPr/>
        </p:nvSpPr>
        <p:spPr>
          <a:xfrm>
            <a:off x="640080" y="1325880"/>
            <a:ext cx="7315200" cy="118872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Demo</a:t>
            </a:r>
            <a:endParaRPr lang="en-US" sz="6400" dirty="0"/>
          </a:p>
        </p:txBody>
      </p:sp>
      <p:sp>
        <p:nvSpPr>
          <p:cNvPr id="4" name="Text 2"/>
          <p:cNvSpPr txBox="1"/>
          <p:nvPr/>
        </p:nvSpPr>
        <p:spPr>
          <a:xfrm>
            <a:off x="640080" y="2514600"/>
            <a:ext cx="7315200" cy="457200"/>
          </a:xfrm>
          <a:prstGeom prst="rect">
            <a:avLst/>
          </a:prstGeom>
          <a:noFill/>
          <a:ln/>
        </p:spPr>
        <p:txBody>
          <a:bodyPr wrap="square" lIns="0" tIns="0" rIns="0" bIns="0" rtlCol="0" anchor="ctr"/>
          <a:lstStyle/>
          <a:p>
            <a:pPr indent="0" marL="0">
              <a:buNone/>
            </a:pPr>
            <a:r>
              <a:rPr lang="en-US" sz="2200" dirty="0">
                <a:solidFill>
                  <a:srgbClr val="2DD4BF"/>
                </a:solidFill>
                <a:latin typeface="Arial" pitchFamily="34" charset="0"/>
                <a:ea typeface="Arial" pitchFamily="34" charset="-122"/>
                <a:cs typeface="Arial" pitchFamily="34" charset="-120"/>
              </a:rPr>
              <a:t>Watch for three things.</a:t>
            </a:r>
            <a:endParaRPr lang="en-US" sz="2200" dirty="0"/>
          </a:p>
        </p:txBody>
      </p:sp>
      <p:sp>
        <p:nvSpPr>
          <p:cNvPr id="5" name="Shape 3"/>
          <p:cNvSpPr/>
          <p:nvPr/>
        </p:nvSpPr>
        <p:spPr>
          <a:xfrm>
            <a:off x="640080" y="3520440"/>
            <a:ext cx="3291840" cy="1965960"/>
          </a:xfrm>
          <a:prstGeom prst="roundRect">
            <a:avLst>
              <a:gd name="adj" fmla="val 4651"/>
            </a:avLst>
          </a:prstGeom>
          <a:solidFill>
            <a:srgbClr val="152220"/>
          </a:solidFill>
          <a:ln w="12700">
            <a:solidFill>
              <a:srgbClr val="273733"/>
            </a:solidFill>
            <a:prstDash val="solid"/>
          </a:ln>
        </p:spPr>
      </p:sp>
      <p:sp>
        <p:nvSpPr>
          <p:cNvPr id="6" name="Shape 4"/>
          <p:cNvSpPr/>
          <p:nvPr/>
        </p:nvSpPr>
        <p:spPr>
          <a:xfrm>
            <a:off x="1024128" y="3767328"/>
            <a:ext cx="548640" cy="548640"/>
          </a:xfrm>
          <a:prstGeom prst="ellipse">
            <a:avLst/>
          </a:prstGeom>
          <a:solidFill>
            <a:srgbClr val="16302B"/>
          </a:solidFill>
          <a:ln w="12700">
            <a:solidFill>
              <a:srgbClr val="1F4B44"/>
            </a:solidFill>
            <a:prstDash val="solid"/>
          </a:ln>
        </p:spPr>
      </p:sp>
      <p:pic>
        <p:nvPicPr>
          <p:cNvPr id="7" name="Image 0" descr="icons/search.png">    </p:cNvPr>
          <p:cNvPicPr>
            <a:picLocks noChangeAspect="1"/>
          </p:cNvPicPr>
          <p:nvPr/>
        </p:nvPicPr>
        <p:blipFill>
          <a:blip r:embed="rId1"/>
          <a:stretch>
            <a:fillRect/>
          </a:stretch>
        </p:blipFill>
        <p:spPr>
          <a:xfrm>
            <a:off x="1166774" y="3909974"/>
            <a:ext cx="263347" cy="263347"/>
          </a:xfrm>
          <a:prstGeom prst="rect">
            <a:avLst/>
          </a:prstGeom>
        </p:spPr>
      </p:pic>
      <p:sp>
        <p:nvSpPr>
          <p:cNvPr id="8" name="Text 5"/>
          <p:cNvSpPr txBox="1"/>
          <p:nvPr/>
        </p:nvSpPr>
        <p:spPr>
          <a:xfrm>
            <a:off x="1024128" y="4462272"/>
            <a:ext cx="2523744"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It follows up</a:t>
            </a:r>
            <a:endParaRPr lang="en-US" sz="1600" dirty="0"/>
          </a:p>
        </p:txBody>
      </p:sp>
      <p:sp>
        <p:nvSpPr>
          <p:cNvPr id="9" name="Text 6"/>
          <p:cNvSpPr txBox="1"/>
          <p:nvPr/>
        </p:nvSpPr>
        <p:spPr>
          <a:xfrm>
            <a:off x="1024128" y="4800600"/>
            <a:ext cx="2523744" cy="548640"/>
          </a:xfrm>
          <a:prstGeom prst="rect">
            <a:avLst/>
          </a:prstGeom>
          <a:noFill/>
          <a:ln/>
        </p:spPr>
        <p:txBody>
          <a:bodyPr wrap="square" lIns="0" tIns="0" rIns="0" bIns="0" rtlCol="0" anchor="ctr"/>
          <a:lstStyle/>
          <a:p>
            <a:pPr indent="0" marL="0">
              <a:buNone/>
            </a:pPr>
            <a:r>
              <a:rPr lang="en-US" sz="1300" dirty="0">
                <a:solidFill>
                  <a:srgbClr val="8A9995"/>
                </a:solidFill>
                <a:latin typeface="Calibri" pitchFamily="34" charset="0"/>
                <a:ea typeface="Calibri" pitchFamily="34" charset="-122"/>
                <a:cs typeface="Calibri" pitchFamily="34" charset="-120"/>
              </a:rPr>
              <a:t>The second question is better than the first.</a:t>
            </a:r>
            <a:endParaRPr lang="en-US" sz="1300" dirty="0"/>
          </a:p>
        </p:txBody>
      </p:sp>
      <p:sp>
        <p:nvSpPr>
          <p:cNvPr id="10" name="Shape 7"/>
          <p:cNvSpPr/>
          <p:nvPr/>
        </p:nvSpPr>
        <p:spPr>
          <a:xfrm>
            <a:off x="4448556" y="3520440"/>
            <a:ext cx="3291840" cy="1965960"/>
          </a:xfrm>
          <a:prstGeom prst="roundRect">
            <a:avLst>
              <a:gd name="adj" fmla="val 4651"/>
            </a:avLst>
          </a:prstGeom>
          <a:solidFill>
            <a:srgbClr val="152220"/>
          </a:solidFill>
          <a:ln w="12700">
            <a:solidFill>
              <a:srgbClr val="273733"/>
            </a:solidFill>
            <a:prstDash val="solid"/>
          </a:ln>
        </p:spPr>
      </p:sp>
      <p:sp>
        <p:nvSpPr>
          <p:cNvPr id="11" name="Shape 8"/>
          <p:cNvSpPr/>
          <p:nvPr/>
        </p:nvSpPr>
        <p:spPr>
          <a:xfrm>
            <a:off x="4832604" y="3767328"/>
            <a:ext cx="548640" cy="548640"/>
          </a:xfrm>
          <a:prstGeom prst="ellipse">
            <a:avLst/>
          </a:prstGeom>
          <a:solidFill>
            <a:srgbClr val="16302B"/>
          </a:solidFill>
          <a:ln w="12700">
            <a:solidFill>
              <a:srgbClr val="1F4B44"/>
            </a:solidFill>
            <a:prstDash val="solid"/>
          </a:ln>
        </p:spPr>
      </p:sp>
      <p:pic>
        <p:nvPicPr>
          <p:cNvPr id="12" name="Image 1" descr="icons/mic.png">    </p:cNvPr>
          <p:cNvPicPr>
            <a:picLocks noChangeAspect="1"/>
          </p:cNvPicPr>
          <p:nvPr/>
        </p:nvPicPr>
        <p:blipFill>
          <a:blip r:embed="rId2"/>
          <a:stretch>
            <a:fillRect/>
          </a:stretch>
        </p:blipFill>
        <p:spPr>
          <a:xfrm>
            <a:off x="4975250" y="3909974"/>
            <a:ext cx="263347" cy="263347"/>
          </a:xfrm>
          <a:prstGeom prst="rect">
            <a:avLst/>
          </a:prstGeom>
        </p:spPr>
      </p:pic>
      <p:sp>
        <p:nvSpPr>
          <p:cNvPr id="13" name="Text 9"/>
          <p:cNvSpPr txBox="1"/>
          <p:nvPr/>
        </p:nvSpPr>
        <p:spPr>
          <a:xfrm>
            <a:off x="4832604" y="4462272"/>
            <a:ext cx="2523744"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You can interrupt it</a:t>
            </a:r>
            <a:endParaRPr lang="en-US" sz="1600" dirty="0"/>
          </a:p>
        </p:txBody>
      </p:sp>
      <p:sp>
        <p:nvSpPr>
          <p:cNvPr id="14" name="Text 10"/>
          <p:cNvSpPr txBox="1"/>
          <p:nvPr/>
        </p:nvSpPr>
        <p:spPr>
          <a:xfrm>
            <a:off x="4832604" y="4800600"/>
            <a:ext cx="2523744" cy="548640"/>
          </a:xfrm>
          <a:prstGeom prst="rect">
            <a:avLst/>
          </a:prstGeom>
          <a:noFill/>
          <a:ln/>
        </p:spPr>
        <p:txBody>
          <a:bodyPr wrap="square" lIns="0" tIns="0" rIns="0" bIns="0" rtlCol="0" anchor="ctr"/>
          <a:lstStyle/>
          <a:p>
            <a:pPr indent="0" marL="0">
              <a:buNone/>
            </a:pPr>
            <a:r>
              <a:rPr lang="en-US" sz="1300" dirty="0">
                <a:solidFill>
                  <a:srgbClr val="8A9995"/>
                </a:solidFill>
                <a:latin typeface="Calibri" pitchFamily="34" charset="0"/>
                <a:ea typeface="Calibri" pitchFamily="34" charset="-122"/>
                <a:cs typeface="Calibri" pitchFamily="34" charset="-120"/>
              </a:rPr>
              <a:t>Talk over it and it stops, like a person would.</a:t>
            </a:r>
            <a:endParaRPr lang="en-US" sz="1300" dirty="0"/>
          </a:p>
        </p:txBody>
      </p:sp>
      <p:sp>
        <p:nvSpPr>
          <p:cNvPr id="15" name="Shape 11"/>
          <p:cNvSpPr/>
          <p:nvPr/>
        </p:nvSpPr>
        <p:spPr>
          <a:xfrm>
            <a:off x="8257032" y="3520440"/>
            <a:ext cx="3291840" cy="1965960"/>
          </a:xfrm>
          <a:prstGeom prst="roundRect">
            <a:avLst>
              <a:gd name="adj" fmla="val 4651"/>
            </a:avLst>
          </a:prstGeom>
          <a:solidFill>
            <a:srgbClr val="152220"/>
          </a:solidFill>
          <a:ln w="12700">
            <a:solidFill>
              <a:srgbClr val="273733"/>
            </a:solidFill>
            <a:prstDash val="solid"/>
          </a:ln>
        </p:spPr>
      </p:sp>
      <p:sp>
        <p:nvSpPr>
          <p:cNvPr id="16" name="Shape 12"/>
          <p:cNvSpPr/>
          <p:nvPr/>
        </p:nvSpPr>
        <p:spPr>
          <a:xfrm>
            <a:off x="8641080" y="3767328"/>
            <a:ext cx="548640" cy="548640"/>
          </a:xfrm>
          <a:prstGeom prst="ellipse">
            <a:avLst/>
          </a:prstGeom>
          <a:solidFill>
            <a:srgbClr val="16302B"/>
          </a:solidFill>
          <a:ln w="12700">
            <a:solidFill>
              <a:srgbClr val="1F4B44"/>
            </a:solidFill>
            <a:prstDash val="solid"/>
          </a:ln>
        </p:spPr>
      </p:sp>
      <p:pic>
        <p:nvPicPr>
          <p:cNvPr id="17" name="Image 2" descr="icons/quote.png">    </p:cNvPr>
          <p:cNvPicPr>
            <a:picLocks noChangeAspect="1"/>
          </p:cNvPicPr>
          <p:nvPr/>
        </p:nvPicPr>
        <p:blipFill>
          <a:blip r:embed="rId3"/>
          <a:stretch>
            <a:fillRect/>
          </a:stretch>
        </p:blipFill>
        <p:spPr>
          <a:xfrm>
            <a:off x="8783726" y="3909974"/>
            <a:ext cx="263347" cy="263347"/>
          </a:xfrm>
          <a:prstGeom prst="rect">
            <a:avLst/>
          </a:prstGeom>
        </p:spPr>
      </p:pic>
      <p:sp>
        <p:nvSpPr>
          <p:cNvPr id="18" name="Text 13"/>
          <p:cNvSpPr txBox="1"/>
          <p:nvPr/>
        </p:nvSpPr>
        <p:spPr>
          <a:xfrm>
            <a:off x="8641080" y="4462272"/>
            <a:ext cx="2523744"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report at the end</a:t>
            </a:r>
            <a:endParaRPr lang="en-US" sz="1600" dirty="0"/>
          </a:p>
        </p:txBody>
      </p:sp>
      <p:sp>
        <p:nvSpPr>
          <p:cNvPr id="19" name="Text 14"/>
          <p:cNvSpPr txBox="1"/>
          <p:nvPr/>
        </p:nvSpPr>
        <p:spPr>
          <a:xfrm>
            <a:off x="8641080" y="4800600"/>
            <a:ext cx="2523744" cy="548640"/>
          </a:xfrm>
          <a:prstGeom prst="rect">
            <a:avLst/>
          </a:prstGeom>
          <a:noFill/>
          <a:ln/>
        </p:spPr>
        <p:txBody>
          <a:bodyPr wrap="square" lIns="0" tIns="0" rIns="0" bIns="0" rtlCol="0" anchor="ctr"/>
          <a:lstStyle/>
          <a:p>
            <a:pPr indent="0" marL="0">
              <a:buNone/>
            </a:pPr>
            <a:r>
              <a:rPr lang="en-US" sz="1300" dirty="0">
                <a:solidFill>
                  <a:srgbClr val="8A9995"/>
                </a:solidFill>
                <a:latin typeface="Calibri" pitchFamily="34" charset="0"/>
                <a:ea typeface="Calibri" pitchFamily="34" charset="-122"/>
                <a:cs typeface="Calibri" pitchFamily="34" charset="-120"/>
              </a:rPr>
              <a:t>A score, and the words that earned it.</a:t>
            </a:r>
            <a:endParaRPr lang="en-US" sz="1300" dirty="0"/>
          </a:p>
        </p:txBody>
      </p:sp>
      <p:pic>
        <p:nvPicPr>
          <p:cNvPr id="20" name="Image 3" descr="icons/play.png">    </p:cNvPr>
          <p:cNvPicPr>
            <a:picLocks noChangeAspect="1"/>
          </p:cNvPicPr>
          <p:nvPr/>
        </p:nvPicPr>
        <p:blipFill>
          <a:blip r:embed="rId4"/>
          <a:stretch>
            <a:fillRect/>
          </a:stretch>
        </p:blipFill>
        <p:spPr>
          <a:xfrm>
            <a:off x="10607040" y="1417320"/>
            <a:ext cx="960120" cy="9601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11"/>
        </a:solidFill>
      </p:bgPr>
    </p:bg>
    <p:spTree>
      <p:nvGrpSpPr>
        <p:cNvPr id="1" name=""/>
        <p:cNvGrpSpPr/>
        <p:nvPr/>
      </p:nvGrpSpPr>
      <p:grpSpPr>
        <a:xfrm>
          <a:off x="0" y="0"/>
          <a:ext cx="0" cy="0"/>
          <a:chOff x="0" y="0"/>
          <a:chExt cx="0" cy="0"/>
        </a:xfrm>
      </p:grpSpPr>
      <p:sp>
        <p:nvSpPr>
          <p:cNvPr id="2" name="Text 0"/>
          <p:cNvSpPr txBox="1"/>
          <p:nvPr/>
        </p:nvSpPr>
        <p:spPr>
          <a:xfrm>
            <a:off x="640080" y="329184"/>
            <a:ext cx="10908792" cy="256032"/>
          </a:xfrm>
          <a:prstGeom prst="rect">
            <a:avLst/>
          </a:prstGeom>
          <a:noFill/>
          <a:ln/>
        </p:spPr>
        <p:txBody>
          <a:bodyPr wrap="square" lIns="0" tIns="0" rIns="0" bIns="0" rtlCol="0" anchor="ctr"/>
          <a:lstStyle/>
          <a:p>
            <a:pPr indent="0" marL="0">
              <a:buNone/>
            </a:pPr>
            <a:r>
              <a:rPr lang="en-US" sz="1150" b="1" spc="220" kern="0" dirty="0">
                <a:solidFill>
                  <a:srgbClr val="2DD4BF"/>
                </a:solidFill>
                <a:latin typeface="Calibri" pitchFamily="34" charset="0"/>
                <a:ea typeface="Calibri" pitchFamily="34" charset="-122"/>
                <a:cs typeface="Calibri" pitchFamily="34" charset="-120"/>
              </a:rPr>
              <a:t>BEING STRAIGHT WITH YOU</a:t>
            </a:r>
            <a:endParaRPr lang="en-US" sz="1150" dirty="0"/>
          </a:p>
        </p:txBody>
      </p:sp>
      <p:sp>
        <p:nvSpPr>
          <p:cNvPr id="3" name="Text 1"/>
          <p:cNvSpPr txBox="1"/>
          <p:nvPr/>
        </p:nvSpPr>
        <p:spPr>
          <a:xfrm>
            <a:off x="640080" y="566928"/>
            <a:ext cx="10908792"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What it does not do.</a:t>
            </a:r>
            <a:endParaRPr lang="en-US" sz="3600" dirty="0"/>
          </a:p>
        </p:txBody>
      </p:sp>
      <p:sp>
        <p:nvSpPr>
          <p:cNvPr id="4" name="Shape 2"/>
          <p:cNvSpPr/>
          <p:nvPr/>
        </p:nvSpPr>
        <p:spPr>
          <a:xfrm>
            <a:off x="640080" y="2468880"/>
            <a:ext cx="3291840" cy="2331720"/>
          </a:xfrm>
          <a:prstGeom prst="roundRect">
            <a:avLst>
              <a:gd name="adj" fmla="val 3922"/>
            </a:avLst>
          </a:prstGeom>
          <a:solidFill>
            <a:srgbClr val="152220"/>
          </a:solidFill>
          <a:ln w="12700">
            <a:solidFill>
              <a:srgbClr val="273733"/>
            </a:solidFill>
            <a:prstDash val="solid"/>
          </a:ln>
        </p:spPr>
      </p:sp>
      <p:sp>
        <p:nvSpPr>
          <p:cNvPr id="5" name="Shape 3"/>
          <p:cNvSpPr/>
          <p:nvPr/>
        </p:nvSpPr>
        <p:spPr>
          <a:xfrm>
            <a:off x="1024128" y="2761488"/>
            <a:ext cx="566928" cy="566928"/>
          </a:xfrm>
          <a:prstGeom prst="ellipse">
            <a:avLst/>
          </a:prstGeom>
          <a:solidFill>
            <a:srgbClr val="16302B"/>
          </a:solidFill>
          <a:ln w="12700">
            <a:solidFill>
              <a:srgbClr val="1F4B44"/>
            </a:solidFill>
            <a:prstDash val="solid"/>
          </a:ln>
        </p:spPr>
      </p:sp>
      <p:pic>
        <p:nvPicPr>
          <p:cNvPr id="6" name="Image 0" descr="icons/user.png">    </p:cNvPr>
          <p:cNvPicPr>
            <a:picLocks noChangeAspect="1"/>
          </p:cNvPicPr>
          <p:nvPr/>
        </p:nvPicPr>
        <p:blipFill>
          <a:blip r:embed="rId1"/>
          <a:stretch>
            <a:fillRect/>
          </a:stretch>
        </p:blipFill>
        <p:spPr>
          <a:xfrm>
            <a:off x="1171529" y="2908889"/>
            <a:ext cx="272125" cy="272125"/>
          </a:xfrm>
          <a:prstGeom prst="rect">
            <a:avLst/>
          </a:prstGeom>
        </p:spPr>
      </p:pic>
      <p:sp>
        <p:nvSpPr>
          <p:cNvPr id="7" name="Text 4"/>
          <p:cNvSpPr txBox="1"/>
          <p:nvPr/>
        </p:nvSpPr>
        <p:spPr>
          <a:xfrm>
            <a:off x="1024128" y="3493008"/>
            <a:ext cx="2523744" cy="62179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It does not decide</a:t>
            </a:r>
            <a:endParaRPr lang="en-US" sz="1700" dirty="0"/>
          </a:p>
        </p:txBody>
      </p:sp>
      <p:sp>
        <p:nvSpPr>
          <p:cNvPr id="8" name="Text 5"/>
          <p:cNvSpPr txBox="1"/>
          <p:nvPr/>
        </p:nvSpPr>
        <p:spPr>
          <a:xfrm>
            <a:off x="1024128" y="4114800"/>
            <a:ext cx="2523744" cy="59436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It recommends. A person makes every call.</a:t>
            </a:r>
            <a:endParaRPr lang="en-US" sz="1350" dirty="0"/>
          </a:p>
        </p:txBody>
      </p:sp>
      <p:sp>
        <p:nvSpPr>
          <p:cNvPr id="9" name="Shape 6"/>
          <p:cNvSpPr/>
          <p:nvPr/>
        </p:nvSpPr>
        <p:spPr>
          <a:xfrm>
            <a:off x="4448556" y="2468880"/>
            <a:ext cx="3291840" cy="2331720"/>
          </a:xfrm>
          <a:prstGeom prst="roundRect">
            <a:avLst>
              <a:gd name="adj" fmla="val 3922"/>
            </a:avLst>
          </a:prstGeom>
          <a:solidFill>
            <a:srgbClr val="152220"/>
          </a:solidFill>
          <a:ln w="12700">
            <a:solidFill>
              <a:srgbClr val="273733"/>
            </a:solidFill>
            <a:prstDash val="solid"/>
          </a:ln>
        </p:spPr>
      </p:sp>
      <p:sp>
        <p:nvSpPr>
          <p:cNvPr id="10" name="Shape 7"/>
          <p:cNvSpPr/>
          <p:nvPr/>
        </p:nvSpPr>
        <p:spPr>
          <a:xfrm>
            <a:off x="4832604" y="2761488"/>
            <a:ext cx="566928" cy="566928"/>
          </a:xfrm>
          <a:prstGeom prst="ellipse">
            <a:avLst/>
          </a:prstGeom>
          <a:solidFill>
            <a:srgbClr val="16302B"/>
          </a:solidFill>
          <a:ln w="12700">
            <a:solidFill>
              <a:srgbClr val="1F4B44"/>
            </a:solidFill>
            <a:prstDash val="solid"/>
          </a:ln>
        </p:spPr>
      </p:sp>
      <p:pic>
        <p:nvPicPr>
          <p:cNvPr id="11" name="Image 1" descr="icons/cpu.png">    </p:cNvPr>
          <p:cNvPicPr>
            <a:picLocks noChangeAspect="1"/>
          </p:cNvPicPr>
          <p:nvPr/>
        </p:nvPicPr>
        <p:blipFill>
          <a:blip r:embed="rId2"/>
          <a:stretch>
            <a:fillRect/>
          </a:stretch>
        </p:blipFill>
        <p:spPr>
          <a:xfrm>
            <a:off x="4980005" y="2908889"/>
            <a:ext cx="272125" cy="272125"/>
          </a:xfrm>
          <a:prstGeom prst="rect">
            <a:avLst/>
          </a:prstGeom>
        </p:spPr>
      </p:pic>
      <p:sp>
        <p:nvSpPr>
          <p:cNvPr id="12" name="Text 8"/>
          <p:cNvSpPr txBox="1"/>
          <p:nvPr/>
        </p:nvSpPr>
        <p:spPr>
          <a:xfrm>
            <a:off x="4832604" y="3493008"/>
            <a:ext cx="2523744" cy="62179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One call at a time</a:t>
            </a:r>
            <a:endParaRPr lang="en-US" sz="1700" dirty="0"/>
          </a:p>
        </p:txBody>
      </p:sp>
      <p:sp>
        <p:nvSpPr>
          <p:cNvPr id="13" name="Text 9"/>
          <p:cNvSpPr txBox="1"/>
          <p:nvPr/>
        </p:nvSpPr>
        <p:spPr>
          <a:xfrm>
            <a:off x="4832604" y="4114800"/>
            <a:ext cx="2523744" cy="59436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One machine, one conversation. Scale by adding machines.</a:t>
            </a:r>
            <a:endParaRPr lang="en-US" sz="1350" dirty="0"/>
          </a:p>
        </p:txBody>
      </p:sp>
      <p:sp>
        <p:nvSpPr>
          <p:cNvPr id="14" name="Shape 10"/>
          <p:cNvSpPr/>
          <p:nvPr/>
        </p:nvSpPr>
        <p:spPr>
          <a:xfrm>
            <a:off x="8257032" y="2468880"/>
            <a:ext cx="3291840" cy="2331720"/>
          </a:xfrm>
          <a:prstGeom prst="roundRect">
            <a:avLst>
              <a:gd name="adj" fmla="val 3922"/>
            </a:avLst>
          </a:prstGeom>
          <a:solidFill>
            <a:srgbClr val="152220"/>
          </a:solidFill>
          <a:ln w="12700">
            <a:solidFill>
              <a:srgbClr val="273733"/>
            </a:solidFill>
            <a:prstDash val="solid"/>
          </a:ln>
        </p:spPr>
      </p:sp>
      <p:sp>
        <p:nvSpPr>
          <p:cNvPr id="15" name="Shape 11"/>
          <p:cNvSpPr/>
          <p:nvPr/>
        </p:nvSpPr>
        <p:spPr>
          <a:xfrm>
            <a:off x="8641080" y="2761488"/>
            <a:ext cx="566928" cy="566928"/>
          </a:xfrm>
          <a:prstGeom prst="ellipse">
            <a:avLst/>
          </a:prstGeom>
          <a:solidFill>
            <a:srgbClr val="16302B"/>
          </a:solidFill>
          <a:ln w="12700">
            <a:solidFill>
              <a:srgbClr val="1F4B44"/>
            </a:solidFill>
            <a:prstDash val="solid"/>
          </a:ln>
        </p:spPr>
      </p:sp>
      <p:pic>
        <p:nvPicPr>
          <p:cNvPr id="16" name="Image 2" descr="icons/filter.png">    </p:cNvPr>
          <p:cNvPicPr>
            <a:picLocks noChangeAspect="1"/>
          </p:cNvPicPr>
          <p:nvPr/>
        </p:nvPicPr>
        <p:blipFill>
          <a:blip r:embed="rId3"/>
          <a:stretch>
            <a:fillRect/>
          </a:stretch>
        </p:blipFill>
        <p:spPr>
          <a:xfrm>
            <a:off x="8788481" y="2908889"/>
            <a:ext cx="272125" cy="272125"/>
          </a:xfrm>
          <a:prstGeom prst="rect">
            <a:avLst/>
          </a:prstGeom>
        </p:spPr>
      </p:pic>
      <p:sp>
        <p:nvSpPr>
          <p:cNvPr id="17" name="Text 12"/>
          <p:cNvSpPr txBox="1"/>
          <p:nvPr/>
        </p:nvSpPr>
        <p:spPr>
          <a:xfrm>
            <a:off x="8641080" y="3493008"/>
            <a:ext cx="2523744" cy="62179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It is a first screen</a:t>
            </a:r>
            <a:endParaRPr lang="en-US" sz="1700" dirty="0"/>
          </a:p>
        </p:txBody>
      </p:sp>
      <p:sp>
        <p:nvSpPr>
          <p:cNvPr id="18" name="Text 13"/>
          <p:cNvSpPr txBox="1"/>
          <p:nvPr/>
        </p:nvSpPr>
        <p:spPr>
          <a:xfrm>
            <a:off x="8641080" y="4114800"/>
            <a:ext cx="2523744" cy="594360"/>
          </a:xfrm>
          <a:prstGeom prst="rect">
            <a:avLst/>
          </a:prstGeom>
          <a:noFill/>
          <a:ln/>
        </p:spPr>
        <p:txBody>
          <a:bodyPr wrap="square" lIns="0" tIns="0" rIns="0" bIns="0" rtlCol="0" anchor="ctr"/>
          <a:lstStyle/>
          <a:p>
            <a:pPr indent="0" marL="0">
              <a:buNone/>
            </a:pPr>
            <a:r>
              <a:rPr lang="en-US" sz="1350" dirty="0">
                <a:solidFill>
                  <a:srgbClr val="8A9995"/>
                </a:solidFill>
                <a:latin typeface="Calibri" pitchFamily="34" charset="0"/>
                <a:ea typeface="Calibri" pitchFamily="34" charset="-122"/>
                <a:cs typeface="Calibri" pitchFamily="34" charset="-120"/>
              </a:rPr>
              <a:t>Not the whole process. It buys back the top of the funnel.</a:t>
            </a:r>
            <a:endParaRPr lang="en-US" sz="1350" dirty="0"/>
          </a:p>
        </p:txBody>
      </p:sp>
      <p:sp>
        <p:nvSpPr>
          <p:cNvPr id="19" name="Text 14"/>
          <p:cNvSpPr txBox="1"/>
          <p:nvPr/>
        </p:nvSpPr>
        <p:spPr>
          <a:xfrm>
            <a:off x="640080" y="5321808"/>
            <a:ext cx="10908792" cy="457200"/>
          </a:xfrm>
          <a:prstGeom prst="rect">
            <a:avLst/>
          </a:prstGeom>
          <a:noFill/>
          <a:ln/>
        </p:spPr>
        <p:txBody>
          <a:bodyPr wrap="square" lIns="0" tIns="0" rIns="0" bIns="0" rtlCol="0" anchor="ctr"/>
          <a:lstStyle/>
          <a:p>
            <a:pPr indent="0" marL="0">
              <a:buNone/>
            </a:pPr>
            <a:r>
              <a:rPr lang="en-US" sz="2200" dirty="0">
                <a:solidFill>
                  <a:srgbClr val="2DD4BF"/>
                </a:solidFill>
                <a:latin typeface="Arial" pitchFamily="34" charset="0"/>
                <a:ea typeface="Arial" pitchFamily="34" charset="-122"/>
                <a:cs typeface="Arial" pitchFamily="34" charset="-120"/>
              </a:rPr>
              <a:t>It gathers the evidence. You still do the hiring.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11"/>
        </a:solidFill>
      </p:bgPr>
    </p:bg>
    <p:spTree>
      <p:nvGrpSpPr>
        <p:cNvPr id="1" name=""/>
        <p:cNvGrpSpPr/>
        <p:nvPr/>
      </p:nvGrpSpPr>
      <p:grpSpPr>
        <a:xfrm>
          <a:off x="0" y="0"/>
          <a:ext cx="0" cy="0"/>
          <a:chOff x="0" y="0"/>
          <a:chExt cx="0" cy="0"/>
        </a:xfrm>
      </p:grpSpPr>
      <p:sp>
        <p:nvSpPr>
          <p:cNvPr id="2" name="Shape 0"/>
          <p:cNvSpPr/>
          <p:nvPr/>
        </p:nvSpPr>
        <p:spPr>
          <a:xfrm>
            <a:off x="9418320" y="3794760"/>
            <a:ext cx="2194560" cy="2194560"/>
          </a:xfrm>
          <a:prstGeom prst="ellipse">
            <a:avLst/>
          </a:prstGeom>
          <a:solidFill>
            <a:srgbClr val="0E1F1C"/>
          </a:solidFill>
          <a:ln w="12700">
            <a:solidFill>
              <a:srgbClr val="1C3A35"/>
            </a:solidFill>
            <a:prstDash val="solid"/>
          </a:ln>
        </p:spPr>
      </p:sp>
      <p:pic>
        <p:nvPicPr>
          <p:cNvPr id="3" name="Image 0" descr="icons/shield.png">    </p:cNvPr>
          <p:cNvPicPr>
            <a:picLocks noChangeAspect="1"/>
          </p:cNvPicPr>
          <p:nvPr/>
        </p:nvPicPr>
        <p:blipFill>
          <a:blip r:embed="rId1"/>
          <a:stretch>
            <a:fillRect/>
          </a:stretch>
        </p:blipFill>
        <p:spPr>
          <a:xfrm>
            <a:off x="10149840" y="4526280"/>
            <a:ext cx="731520" cy="731520"/>
          </a:xfrm>
          <a:prstGeom prst="rect">
            <a:avLst/>
          </a:prstGeom>
        </p:spPr>
      </p:pic>
      <p:sp>
        <p:nvSpPr>
          <p:cNvPr id="4" name="Text 1"/>
          <p:cNvSpPr txBox="1"/>
          <p:nvPr/>
        </p:nvSpPr>
        <p:spPr>
          <a:xfrm>
            <a:off x="640080" y="2057400"/>
            <a:ext cx="8412480" cy="2011680"/>
          </a:xfrm>
          <a:prstGeom prst="rect">
            <a:avLst/>
          </a:prstGeom>
          <a:noFill/>
          <a:ln/>
        </p:spPr>
        <p:txBody>
          <a:bodyPr wrap="square" lIns="0" tIns="0" rIns="0" bIns="0" rtlCol="0" anchor="ctr"/>
          <a:lstStyle/>
          <a:p>
            <a:pPr indent="0" marL="0">
              <a:lnSpc>
                <a:spcPts val="6200"/>
              </a:lnSpc>
              <a:buNone/>
            </a:pPr>
            <a:r>
              <a:rPr lang="en-US" sz="5200" b="1" dirty="0">
                <a:solidFill>
                  <a:srgbClr val="FFFFFF"/>
                </a:solidFill>
                <a:latin typeface="Arial" pitchFamily="34" charset="0"/>
                <a:ea typeface="Arial" pitchFamily="34" charset="-122"/>
                <a:cs typeface="Arial" pitchFamily="34" charset="-120"/>
              </a:rPr>
              <a:t>Better candidates.</a:t>
            </a:r>
            <a:endParaRPr lang="en-US" sz="5200" dirty="0"/>
          </a:p>
          <a:p>
            <a:pPr indent="0" marL="0">
              <a:lnSpc>
                <a:spcPts val="6200"/>
              </a:lnSpc>
              <a:buNone/>
            </a:pPr>
            <a:r>
              <a:rPr lang="en-US" sz="5200" b="1" dirty="0">
                <a:solidFill>
                  <a:srgbClr val="FFFFFF"/>
                </a:solidFill>
                <a:latin typeface="Arial" pitchFamily="34" charset="0"/>
                <a:ea typeface="Arial" pitchFamily="34" charset="-122"/>
                <a:cs typeface="Arial" pitchFamily="34" charset="-120"/>
              </a:rPr>
              <a:t>Less guessing.</a:t>
            </a:r>
            <a:endParaRPr lang="en-US" sz="5200" dirty="0"/>
          </a:p>
        </p:txBody>
      </p:sp>
      <p:sp>
        <p:nvSpPr>
          <p:cNvPr id="5" name="Text 2"/>
          <p:cNvSpPr txBox="1"/>
          <p:nvPr/>
        </p:nvSpPr>
        <p:spPr>
          <a:xfrm>
            <a:off x="640080" y="4343400"/>
            <a:ext cx="3657600" cy="731520"/>
          </a:xfrm>
          <a:prstGeom prst="rect">
            <a:avLst/>
          </a:prstGeom>
          <a:noFill/>
          <a:ln/>
        </p:spPr>
        <p:txBody>
          <a:bodyPr wrap="square" lIns="0" tIns="0" rIns="0" bIns="0" rtlCol="0" anchor="ctr"/>
          <a:lstStyle/>
          <a:p>
            <a:pPr indent="0" marL="0">
              <a:buNone/>
            </a:pPr>
            <a:r>
              <a:rPr lang="en-US" sz="4000" b="1" dirty="0">
                <a:solidFill>
                  <a:srgbClr val="2DD4BF"/>
                </a:solidFill>
                <a:latin typeface="Arial" pitchFamily="34" charset="0"/>
                <a:ea typeface="Arial" pitchFamily="34" charset="-122"/>
                <a:cs typeface="Arial" pitchFamily="34" charset="-120"/>
              </a:rPr>
              <a:t>zeg</a:t>
            </a:r>
            <a:endParaRPr lang="en-US" sz="4000" dirty="0"/>
          </a:p>
        </p:txBody>
      </p:sp>
      <p:sp>
        <p:nvSpPr>
          <p:cNvPr id="6" name="Text 3"/>
          <p:cNvSpPr txBox="1"/>
          <p:nvPr/>
        </p:nvSpPr>
        <p:spPr>
          <a:xfrm>
            <a:off x="640080" y="5166360"/>
            <a:ext cx="8229600" cy="411480"/>
          </a:xfrm>
          <a:prstGeom prst="rect">
            <a:avLst/>
          </a:prstGeom>
          <a:noFill/>
          <a:ln/>
        </p:spPr>
        <p:txBody>
          <a:bodyPr wrap="square" lIns="0" tIns="0" rIns="0" bIns="0" rtlCol="0" anchor="ctr"/>
          <a:lstStyle/>
          <a:p>
            <a:pPr indent="0" marL="0">
              <a:buNone/>
            </a:pPr>
            <a:r>
              <a:rPr lang="en-US" sz="1500" dirty="0">
                <a:solidFill>
                  <a:srgbClr val="8A9995"/>
                </a:solidFill>
                <a:latin typeface="Calibri" pitchFamily="34" charset="0"/>
                <a:ea typeface="Calibri" pitchFamily="34" charset="-122"/>
                <a:cs typeface="Calibri" pitchFamily="34" charset="-120"/>
              </a:rPr>
              <a:t>Every candidate gets the same 15 minutes. You get the evidence.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zeg</dc:title>
  <dc:subject>PptxGenJS Presentation</dc:subject>
  <dc:creator>zeg</dc:creator>
  <cp:lastModifiedBy>zeg</cp:lastModifiedBy>
  <cp:revision>1</cp:revision>
  <dcterms:created xsi:type="dcterms:W3CDTF">2026-09-12T21:51:07Z</dcterms:created>
  <dcterms:modified xsi:type="dcterms:W3CDTF">2026-09-12T21:51:07Z</dcterms:modified>
</cp:coreProperties>
</file>